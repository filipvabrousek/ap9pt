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4"/>
  </p:notesMasterIdLst>
  <p:sldIdLst>
    <p:sldId id="332" r:id="rId2"/>
    <p:sldId id="290" r:id="rId3"/>
    <p:sldId id="291" r:id="rId4"/>
    <p:sldId id="344" r:id="rId5"/>
    <p:sldId id="292" r:id="rId6"/>
    <p:sldId id="342" r:id="rId7"/>
    <p:sldId id="343" r:id="rId8"/>
    <p:sldId id="333" r:id="rId9"/>
    <p:sldId id="287" r:id="rId10"/>
    <p:sldId id="288" r:id="rId11"/>
    <p:sldId id="289" r:id="rId12"/>
    <p:sldId id="296" r:id="rId13"/>
    <p:sldId id="297" r:id="rId14"/>
    <p:sldId id="298" r:id="rId15"/>
    <p:sldId id="299" r:id="rId16"/>
    <p:sldId id="300" r:id="rId17"/>
    <p:sldId id="345" r:id="rId18"/>
    <p:sldId id="334" r:id="rId19"/>
    <p:sldId id="301" r:id="rId20"/>
    <p:sldId id="335" r:id="rId21"/>
    <p:sldId id="302" r:id="rId22"/>
    <p:sldId id="304" r:id="rId23"/>
    <p:sldId id="305" r:id="rId24"/>
    <p:sldId id="307" r:id="rId25"/>
    <p:sldId id="308" r:id="rId26"/>
    <p:sldId id="309" r:id="rId27"/>
    <p:sldId id="336" r:id="rId28"/>
    <p:sldId id="337" r:id="rId29"/>
    <p:sldId id="338" r:id="rId30"/>
    <p:sldId id="295" r:id="rId31"/>
    <p:sldId id="340" r:id="rId32"/>
    <p:sldId id="276" r:id="rId3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dek Vala" initials="RV" lastIdx="10" clrIdx="0">
    <p:extLst>
      <p:ext uri="{19B8F6BF-5375-455C-9EA6-DF929625EA0E}">
        <p15:presenceInfo xmlns:p15="http://schemas.microsoft.com/office/powerpoint/2012/main" userId="S::vala@utb.cz::bb903c5a-e130-4e4a-8840-3b3abc620dde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/>
      <a:tcStyle>
        <a:tcBdr/>
        <a:fill>
          <a:solidFill>
            <a:srgbClr val="E8ECF4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/>
      <a:tcStyle>
        <a:tcBdr/>
        <a:fill>
          <a:solidFill>
            <a:srgbClr val="EFF3E9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/>
      <a:tcStyle>
        <a:tcBdr/>
        <a:fill>
          <a:solidFill>
            <a:srgbClr val="FDEE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6551"/>
    <p:restoredTop sz="94687"/>
  </p:normalViewPr>
  <p:slideViewPr>
    <p:cSldViewPr snapToGrid="0">
      <p:cViewPr varScale="1">
        <p:scale>
          <a:sx n="86" d="100"/>
          <a:sy n="86" d="100"/>
        </p:scale>
        <p:origin x="2016" y="4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commentAuthors" Target="commentAuthor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1-03-23T20:32:31.319" idx="7">
    <p:pos x="10" y="10"/>
    <p:text>https://developer.apple.com/support/compare-memberships/</p:text>
    <p:extLst>
      <p:ext uri="{C676402C-5697-4E1C-873F-D02D1690AC5C}">
        <p15:threadingInfo xmlns:p15="http://schemas.microsoft.com/office/powerpoint/2012/main" timeZoneBias="-6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Shape 109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0" name="Shape 110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327456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195196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názvu"/>
          <p:cNvSpPr txBox="1">
            <a:spLocks noGrp="1"/>
          </p:cNvSpPr>
          <p:nvPr>
            <p:ph type="title"/>
          </p:nvPr>
        </p:nvSpPr>
        <p:spPr>
          <a:xfrm>
            <a:off x="914400" y="2130425"/>
            <a:ext cx="10363200" cy="1470026"/>
          </a:xfrm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12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13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ext názv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58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ext názvu"/>
          <p:cNvSpPr txBox="1"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Text názvu</a:t>
            </a:r>
          </a:p>
        </p:txBody>
      </p:sp>
      <p:sp>
        <p:nvSpPr>
          <p:cNvPr id="73" name="Text úrovně 1…"/>
          <p:cNvSpPr txBox="1">
            <a:spLocks noGrp="1"/>
          </p:cNvSpPr>
          <p:nvPr>
            <p:ph type="body" idx="1"/>
          </p:nvPr>
        </p:nvSpPr>
        <p:spPr>
          <a:xfrm>
            <a:off x="4766733" y="273050"/>
            <a:ext cx="6815667" cy="5853114"/>
          </a:xfrm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74" name="Text Placeholder 3"/>
          <p:cNvSpPr>
            <a:spLocks noGrp="1"/>
          </p:cNvSpPr>
          <p:nvPr>
            <p:ph type="body" sz="half" idx="13"/>
          </p:nvPr>
        </p:nvSpPr>
        <p:spPr>
          <a:xfrm>
            <a:off x="609600" y="1435101"/>
            <a:ext cx="401108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  <a:endParaRPr/>
          </a:p>
        </p:txBody>
      </p:sp>
      <p:sp>
        <p:nvSpPr>
          <p:cNvPr id="75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ext názvu"/>
          <p:cNvSpPr txBox="1">
            <a:spLocks noGrp="1"/>
          </p:cNvSpPr>
          <p:nvPr>
            <p:ph type="title"/>
          </p:nvPr>
        </p:nvSpPr>
        <p:spPr>
          <a:xfrm>
            <a:off x="2389716" y="4800600"/>
            <a:ext cx="7315201" cy="566738"/>
          </a:xfrm>
          <a:prstGeom prst="rect">
            <a:avLst/>
          </a:prstGeom>
        </p:spPr>
        <p:txBody>
          <a:bodyPr anchor="b"/>
          <a:lstStyle>
            <a:lvl1pPr algn="l">
              <a:defRPr sz="2000"/>
            </a:lvl1pPr>
          </a:lstStyle>
          <a:p>
            <a:r>
              <a:t>Text názvu</a:t>
            </a:r>
          </a:p>
        </p:txBody>
      </p:sp>
      <p:sp>
        <p:nvSpPr>
          <p:cNvPr id="83" name="Picture Placeholder 2"/>
          <p:cNvSpPr>
            <a:spLocks noGrp="1"/>
          </p:cNvSpPr>
          <p:nvPr>
            <p:ph type="pic" sz="half" idx="13"/>
          </p:nvPr>
        </p:nvSpPr>
        <p:spPr>
          <a:xfrm>
            <a:off x="2389716" y="612775"/>
            <a:ext cx="73152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4" name="Text úrovně 1…"/>
          <p:cNvSpPr txBox="1">
            <a:spLocks noGrp="1"/>
          </p:cNvSpPr>
          <p:nvPr>
            <p:ph type="body" sz="quarter" idx="1"/>
          </p:nvPr>
        </p:nvSpPr>
        <p:spPr>
          <a:xfrm>
            <a:off x="2389716" y="5367337"/>
            <a:ext cx="73152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85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Text názvu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93" name="Text úrovně 1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94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Text názvu"/>
          <p:cNvSpPr txBox="1">
            <a:spLocks noGrp="1"/>
          </p:cNvSpPr>
          <p:nvPr>
            <p:ph type="title"/>
          </p:nvPr>
        </p:nvSpPr>
        <p:spPr>
          <a:xfrm>
            <a:off x="8839200" y="274639"/>
            <a:ext cx="2743200" cy="5851526"/>
          </a:xfrm>
          <a:prstGeom prst="rect">
            <a:avLst/>
          </a:prstGeom>
        </p:spPr>
        <p:txBody>
          <a:bodyPr/>
          <a:lstStyle/>
          <a:p>
            <a:r>
              <a:t>Text názvu</a:t>
            </a:r>
          </a:p>
        </p:txBody>
      </p:sp>
      <p:sp>
        <p:nvSpPr>
          <p:cNvPr id="102" name="Text úrovně 1…"/>
          <p:cNvSpPr txBox="1">
            <a:spLocks noGrp="1"/>
          </p:cNvSpPr>
          <p:nvPr>
            <p:ph type="body" idx="1"/>
          </p:nvPr>
        </p:nvSpPr>
        <p:spPr>
          <a:xfrm>
            <a:off x="609600" y="274639"/>
            <a:ext cx="8026400" cy="5851526"/>
          </a:xfrm>
          <a:prstGeom prst="rect">
            <a:avLst/>
          </a:prstGeom>
        </p:spPr>
        <p:txBody>
          <a:bodyPr/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103" name="Číslo snímku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názvu"/>
          <p:cNvSpPr txBox="1">
            <a:spLocks noGrp="1"/>
          </p:cNvSpPr>
          <p:nvPr>
            <p:ph type="title"/>
          </p:nvPr>
        </p:nvSpPr>
        <p:spPr>
          <a:xfrm>
            <a:off x="609600" y="274638"/>
            <a:ext cx="10972800" cy="1143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Text názvu</a:t>
            </a:r>
          </a:p>
        </p:txBody>
      </p:sp>
      <p:sp>
        <p:nvSpPr>
          <p:cNvPr id="3" name="Text úrovně 1…"/>
          <p:cNvSpPr txBox="1"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Text úrovně 1</a:t>
            </a:r>
          </a:p>
          <a:p>
            <a:pPr lvl="1"/>
            <a:r>
              <a:t>Text úrovně 2</a:t>
            </a:r>
          </a:p>
          <a:p>
            <a:pPr lvl="2"/>
            <a:r>
              <a:t>Text úrovně 3</a:t>
            </a:r>
          </a:p>
          <a:p>
            <a:pPr lvl="3"/>
            <a:r>
              <a:t>Text úrovně 4</a:t>
            </a:r>
          </a:p>
          <a:p>
            <a:pPr lvl="4"/>
            <a:r>
              <a:t>Text úrovně 5</a:t>
            </a:r>
          </a:p>
        </p:txBody>
      </p:sp>
      <p:sp>
        <p:nvSpPr>
          <p:cNvPr id="4" name="Číslo snímku"/>
          <p:cNvSpPr txBox="1">
            <a:spLocks noGrp="1"/>
          </p:cNvSpPr>
          <p:nvPr>
            <p:ph type="sldNum" sz="quarter" idx="2"/>
          </p:nvPr>
        </p:nvSpPr>
        <p:spPr>
          <a:xfrm>
            <a:off x="11308744" y="6404294"/>
            <a:ext cx="273657" cy="26924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5" r:id="rId3"/>
    <p:sldLayoutId id="2147483656" r:id="rId4"/>
    <p:sldLayoutId id="2147483657" r:id="rId5"/>
    <p:sldLayoutId id="2147483658" r:id="rId6"/>
    <p:sldLayoutId id="2147483659" r:id="rId7"/>
  </p:sldLayoutIdLst>
  <p:transition spd="med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1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 Bold"/>
          <a:ea typeface="Source Sans Pro Bold"/>
          <a:cs typeface="Source Sans Pro Bold"/>
          <a:sym typeface="Source Sans Pro Bold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sz="3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Source sans Pro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tif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tif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4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4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comments" Target="../comments/commen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0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microsoft.com/office/2007/relationships/hdphoto" Target="../media/hdphoto1.wdp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.png"/><Relationship Id="rId4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Footer Placeholder 3"/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pic>
        <p:nvPicPr>
          <p:cNvPr id="113" name="Picture 5" descr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7787" y="1463668"/>
            <a:ext cx="3456385" cy="3456385"/>
          </a:xfrm>
          <a:prstGeom prst="rect">
            <a:avLst/>
          </a:prstGeom>
          <a:ln w="12700">
            <a:miter lim="400000"/>
          </a:ln>
        </p:spPr>
      </p:pic>
      <p:sp>
        <p:nvSpPr>
          <p:cNvPr id="114" name="Title 1"/>
          <p:cNvSpPr txBox="1">
            <a:spLocks noGrp="1"/>
          </p:cNvSpPr>
          <p:nvPr>
            <p:ph type="ctrTitle"/>
          </p:nvPr>
        </p:nvSpPr>
        <p:spPr>
          <a:xfrm>
            <a:off x="2209800" y="2276873"/>
            <a:ext cx="7772400" cy="1470026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Pokročilé mobilní technologie</a:t>
            </a:r>
          </a:p>
        </p:txBody>
      </p:sp>
      <p:sp>
        <p:nvSpPr>
          <p:cNvPr id="115" name="Subtitle 2"/>
          <p:cNvSpPr txBox="1">
            <a:spLocks noGrp="1"/>
          </p:cNvSpPr>
          <p:nvPr>
            <p:ph type="subTitle" sz="quarter" idx="1"/>
          </p:nvPr>
        </p:nvSpPr>
        <p:spPr>
          <a:xfrm>
            <a:off x="2835579" y="3894587"/>
            <a:ext cx="6400801" cy="532974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 i="1">
                <a:solidFill>
                  <a:srgbClr val="000000"/>
                </a:solidFill>
              </a:defRPr>
            </a:lvl1pPr>
          </a:lstStyle>
          <a:p>
            <a:r>
              <a:rPr lang="cs-CZ" dirty="0"/>
              <a:t>Programování pro </a:t>
            </a:r>
            <a:r>
              <a:rPr lang="cs-CZ" dirty="0" err="1"/>
              <a:t>iOS</a:t>
            </a:r>
            <a:endParaRPr lang="cs-CZ" dirty="0"/>
          </a:p>
        </p:txBody>
      </p:sp>
      <p:pic>
        <p:nvPicPr>
          <p:cNvPr id="116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18" name="Zástupný symbol pro číslo snímku 4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</a:t>
            </a:fld>
            <a:endParaRPr/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>
            <a:spLocks noGrp="1"/>
          </p:cNvSpPr>
          <p:nvPr>
            <p:ph type="ctrTitle"/>
          </p:nvPr>
        </p:nvSpPr>
        <p:spPr>
          <a:xfrm>
            <a:off x="2244688" y="2693987"/>
            <a:ext cx="7702623" cy="1470026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1</a:t>
            </a:r>
            <a:r>
              <a:rPr dirty="0"/>
              <a:t>. </a:t>
            </a:r>
            <a:r>
              <a:rPr lang="cs-CZ" dirty="0"/>
              <a:t>Programovací jazyky pro </a:t>
            </a:r>
            <a:r>
              <a:rPr lang="cs-CZ" dirty="0" err="1"/>
              <a:t>iOS</a:t>
            </a:r>
            <a:endParaRPr dirty="0"/>
          </a:p>
        </p:txBody>
      </p:sp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Zástupný symbol pro číslo snímku 11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2</a:t>
            </a:fld>
            <a:endParaRPr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C1C18FAC-5549-AB40-9C83-8A8980065380}"/>
              </a:ext>
            </a:extLst>
          </p:cNvPr>
          <p:cNvSpPr txBox="1"/>
          <p:nvPr/>
        </p:nvSpPr>
        <p:spPr>
          <a:xfrm>
            <a:off x="2408311" y="6152791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72937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1.1 Jazyky pro programování </a:t>
            </a:r>
            <a:r>
              <a:rPr lang="cs-CZ" dirty="0" err="1"/>
              <a:t>iOS</a:t>
            </a:r>
            <a:r>
              <a:rPr lang="cs-CZ" dirty="0"/>
              <a:t> aplikací</a:t>
            </a:r>
            <a:endParaRPr dirty="0"/>
          </a:p>
        </p:txBody>
      </p:sp>
      <p:sp>
        <p:nvSpPr>
          <p:cNvPr id="12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48880"/>
            <a:ext cx="6029316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Původně byly aplikace psané v jazyce </a:t>
            </a:r>
            <a:r>
              <a:rPr lang="cs-CZ" sz="1800" dirty="0" err="1">
                <a:sym typeface="Source Sans Pro Semibold"/>
              </a:rPr>
              <a:t>Objective</a:t>
            </a:r>
            <a:r>
              <a:rPr lang="cs-CZ" sz="1800" dirty="0">
                <a:sym typeface="Source Sans Pro Semibold"/>
              </a:rPr>
              <a:t>-C (Apple jej používal více jak 20 let pro programování svých platforem Mac OS a později </a:t>
            </a:r>
            <a:r>
              <a:rPr lang="cs-CZ" sz="1800" dirty="0" err="1">
                <a:sym typeface="Source Sans Pro Semibold"/>
              </a:rPr>
              <a:t>iOS</a:t>
            </a:r>
            <a:r>
              <a:rPr lang="cs-CZ" sz="1800" dirty="0">
                <a:sym typeface="Source Sans Pro Semibold"/>
              </a:rPr>
              <a:t>)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dirty="0" err="1"/>
              <a:t>Objective</a:t>
            </a:r>
            <a:r>
              <a:rPr lang="cs-CZ" dirty="0"/>
              <a:t>-C bylo zvláště pro začínající programátory složité k naučení, nebylo oblíbené ani mezi většinou vývojářů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dirty="0"/>
              <a:t>V rámci </a:t>
            </a:r>
            <a:r>
              <a:rPr lang="cs-CZ" dirty="0" err="1"/>
              <a:t>Worldwide</a:t>
            </a:r>
            <a:r>
              <a:rPr lang="cs-CZ" dirty="0"/>
              <a:t> Developer </a:t>
            </a:r>
            <a:r>
              <a:rPr lang="cs-CZ" dirty="0" err="1"/>
              <a:t>Conference</a:t>
            </a:r>
            <a:r>
              <a:rPr lang="cs-CZ" dirty="0"/>
              <a:t> 2014, Apple představil nový jazyk – </a:t>
            </a:r>
            <a:r>
              <a:rPr lang="cs-CZ" dirty="0" err="1"/>
              <a:t>Swift</a:t>
            </a:r>
            <a:r>
              <a:rPr lang="cs-CZ" dirty="0"/>
              <a:t> [1]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Swift</a:t>
            </a:r>
            <a:r>
              <a:rPr lang="cs-CZ" sz="1800" dirty="0">
                <a:sym typeface="Source Sans Pro Semibold"/>
              </a:rPr>
              <a:t> byl představen jako rychlý, moderní, bezpečný a interaktivní programovací jazyk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Postupně </a:t>
            </a:r>
            <a:r>
              <a:rPr lang="cs-CZ" sz="1800" dirty="0" err="1">
                <a:sym typeface="Source Sans Pro Semibold"/>
              </a:rPr>
              <a:t>Swift</a:t>
            </a:r>
            <a:r>
              <a:rPr lang="cs-CZ" sz="1800" dirty="0">
                <a:sym typeface="Source Sans Pro Semibold"/>
              </a:rPr>
              <a:t> plně nahradil </a:t>
            </a:r>
            <a:r>
              <a:rPr lang="cs-CZ" sz="1800" dirty="0" err="1">
                <a:sym typeface="Source Sans Pro Semibold"/>
              </a:rPr>
              <a:t>Objective</a:t>
            </a:r>
            <a:r>
              <a:rPr lang="cs-CZ" sz="1800" dirty="0">
                <a:sym typeface="Source Sans Pro Semibold"/>
              </a:rPr>
              <a:t>-C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</a:t>
            </a:fld>
            <a:endParaRPr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8AF15BB4-C171-4A4D-BB28-22004752C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8931" y="2554891"/>
            <a:ext cx="1359034" cy="1359034"/>
          </a:xfrm>
          <a:prstGeom prst="rect">
            <a:avLst/>
          </a:prstGeom>
        </p:spPr>
      </p:pic>
      <p:pic>
        <p:nvPicPr>
          <p:cNvPr id="4" name="Obrázek 3">
            <a:extLst>
              <a:ext uri="{FF2B5EF4-FFF2-40B4-BE49-F238E27FC236}">
                <a16:creationId xmlns:a16="http://schemas.microsoft.com/office/drawing/2014/main" id="{3E52333D-31AC-B04C-8CA5-467E147EDE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470929" y="4113076"/>
            <a:ext cx="1315037" cy="1359034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24102CE2-BE8F-F843-9C8B-184B1573777A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40549415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40616-7241-8720-692E-2E52785B11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>
            <a:extLst>
              <a:ext uri="{FF2B5EF4-FFF2-40B4-BE49-F238E27FC236}">
                <a16:creationId xmlns:a16="http://schemas.microsoft.com/office/drawing/2014/main" id="{7A37B401-34D8-B085-91E7-0D4452293163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1.2 Jazyk </a:t>
            </a:r>
            <a:r>
              <a:rPr lang="cs-CZ" dirty="0" err="1"/>
              <a:t>Swift</a:t>
            </a:r>
            <a:endParaRPr dirty="0"/>
          </a:p>
        </p:txBody>
      </p:sp>
      <p:sp>
        <p:nvSpPr>
          <p:cNvPr id="129" name="Subtitle 2">
            <a:extLst>
              <a:ext uri="{FF2B5EF4-FFF2-40B4-BE49-F238E27FC236}">
                <a16:creationId xmlns:a16="http://schemas.microsoft.com/office/drawing/2014/main" id="{3918886B-9703-DFC2-1AEF-01F8CB063250}"/>
              </a:ext>
            </a:extLst>
          </p:cNvPr>
          <p:cNvSpPr txBox="1">
            <a:spLocks noGrp="1"/>
          </p:cNvSpPr>
          <p:nvPr>
            <p:ph type="subTitle" sz="half" idx="1"/>
          </p:nvPr>
        </p:nvSpPr>
        <p:spPr>
          <a:xfrm>
            <a:off x="2063551" y="2348880"/>
            <a:ext cx="6029316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Aktuální verze: </a:t>
            </a:r>
            <a:r>
              <a:rPr lang="cs-CZ" sz="1800" dirty="0" err="1">
                <a:sym typeface="Source Sans Pro Semibold"/>
              </a:rPr>
              <a:t>Swift</a:t>
            </a:r>
            <a:r>
              <a:rPr lang="cs-CZ" sz="1800" dirty="0">
                <a:sym typeface="Source Sans Pro Semibold"/>
              </a:rPr>
              <a:t> 6 (vydán 2024)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Swift</a:t>
            </a:r>
            <a:r>
              <a:rPr lang="cs-CZ" sz="1800" dirty="0">
                <a:sym typeface="Source Sans Pro Semibold"/>
              </a:rPr>
              <a:t> vs </a:t>
            </a:r>
            <a:r>
              <a:rPr lang="cs-CZ" sz="1800" dirty="0" err="1">
                <a:sym typeface="Source Sans Pro Semibold"/>
              </a:rPr>
              <a:t>Objective</a:t>
            </a:r>
            <a:r>
              <a:rPr lang="cs-CZ" sz="1800" dirty="0">
                <a:sym typeface="Source Sans Pro Semibold"/>
              </a:rPr>
              <a:t>-C: </a:t>
            </a:r>
            <a:r>
              <a:rPr lang="cs-CZ" sz="1800" dirty="0" err="1">
                <a:sym typeface="Source Sans Pro Semibold"/>
              </a:rPr>
              <a:t>Objective</a:t>
            </a:r>
            <a:r>
              <a:rPr lang="cs-CZ" sz="1800" dirty="0">
                <a:sym typeface="Source Sans Pro Semibold"/>
              </a:rPr>
              <a:t>-C se už používá téměř výhradně pro údržbu starších projektů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 err="1">
                <a:sym typeface="Source Sans Pro Semibold"/>
              </a:rPr>
              <a:t>Swift</a:t>
            </a:r>
            <a:r>
              <a:rPr lang="cs-CZ" sz="1800" dirty="0">
                <a:sym typeface="Source Sans Pro Semibold"/>
              </a:rPr>
              <a:t> Open Source: </a:t>
            </a:r>
            <a:r>
              <a:rPr lang="cs-CZ" sz="1800" dirty="0" err="1">
                <a:sym typeface="Source Sans Pro Semibold"/>
              </a:rPr>
              <a:t>Swift</a:t>
            </a:r>
            <a:r>
              <a:rPr lang="cs-CZ" sz="1800" dirty="0">
                <a:sym typeface="Source Sans Pro Semibold"/>
              </a:rPr>
              <a:t> je open source, běží i na Linuxu a Windows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iOS SDK je jen pro macOS!!!</a:t>
            </a:r>
            <a:endParaRPr dirty="0"/>
          </a:p>
        </p:txBody>
      </p:sp>
      <p:pic>
        <p:nvPicPr>
          <p:cNvPr id="130" name="Picture 6" descr="Picture 6">
            <a:extLst>
              <a:ext uri="{FF2B5EF4-FFF2-40B4-BE49-F238E27FC236}">
                <a16:creationId xmlns:a16="http://schemas.microsoft.com/office/drawing/2014/main" id="{6FE3EE96-C13E-F624-5908-883BFC2A47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>
            <a:extLst>
              <a:ext uri="{FF2B5EF4-FFF2-40B4-BE49-F238E27FC236}">
                <a16:creationId xmlns:a16="http://schemas.microsoft.com/office/drawing/2014/main" id="{E14E01CC-4A9C-A2AB-D6F4-854040DCB0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>
            <a:extLst>
              <a:ext uri="{FF2B5EF4-FFF2-40B4-BE49-F238E27FC236}">
                <a16:creationId xmlns:a16="http://schemas.microsoft.com/office/drawing/2014/main" id="{ED43B3A8-DF35-0BEA-4A59-F2EC7CBBD549}"/>
              </a:ext>
            </a:extLst>
          </p:cNvPr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>
            <a:extLst>
              <a:ext uri="{FF2B5EF4-FFF2-40B4-BE49-F238E27FC236}">
                <a16:creationId xmlns:a16="http://schemas.microsoft.com/office/drawing/2014/main" id="{54C17A4F-2619-81C4-32D3-33BC66B84098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4</a:t>
            </a:fld>
            <a:endParaRPr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F4599542-67E6-45CF-E05D-5C9CE5864C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1484" y="3213235"/>
            <a:ext cx="1315037" cy="1359034"/>
          </a:xfrm>
          <a:prstGeom prst="rect">
            <a:avLst/>
          </a:prstGeom>
        </p:spPr>
      </p:pic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2BA90A1D-99FA-2419-E2E4-FDAFA2AE57DF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74180018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1.3 </a:t>
            </a:r>
            <a:r>
              <a:rPr lang="cs-CZ" dirty="0" err="1"/>
              <a:t>Objective</a:t>
            </a:r>
            <a:r>
              <a:rPr lang="cs-CZ" dirty="0"/>
              <a:t>-C vs </a:t>
            </a:r>
            <a:r>
              <a:rPr lang="cs-CZ" dirty="0" err="1"/>
              <a:t>Swift</a:t>
            </a:r>
            <a:r>
              <a:rPr lang="cs-CZ" dirty="0"/>
              <a:t> – porovnání kódu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5</a:t>
            </a:fld>
            <a:endParaRPr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8AF15BB4-C171-4A4D-BB28-22004752C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34094" y="2285732"/>
            <a:ext cx="1359034" cy="1359034"/>
          </a:xfrm>
          <a:prstGeom prst="rect">
            <a:avLst/>
          </a:prstGeom>
        </p:spPr>
      </p:pic>
      <p:pic>
        <p:nvPicPr>
          <p:cNvPr id="4" name="Obrázek 3">
            <a:extLst>
              <a:ext uri="{FF2B5EF4-FFF2-40B4-BE49-F238E27FC236}">
                <a16:creationId xmlns:a16="http://schemas.microsoft.com/office/drawing/2014/main" id="{3E52333D-31AC-B04C-8CA5-467E147EDE7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65275" y="4497872"/>
            <a:ext cx="1315037" cy="1359034"/>
          </a:xfrm>
          <a:prstGeom prst="rect">
            <a:avLst/>
          </a:prstGeom>
        </p:spPr>
      </p:pic>
      <p:pic>
        <p:nvPicPr>
          <p:cNvPr id="6" name="Obrázek 5">
            <a:extLst>
              <a:ext uri="{FF2B5EF4-FFF2-40B4-BE49-F238E27FC236}">
                <a16:creationId xmlns:a16="http://schemas.microsoft.com/office/drawing/2014/main" id="{84D036AE-C2DC-0A47-B83B-54A281A63CCF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78106" y="2094415"/>
            <a:ext cx="6577892" cy="1864322"/>
          </a:xfrm>
          <a:prstGeom prst="rect">
            <a:avLst/>
          </a:prstGeom>
        </p:spPr>
      </p:pic>
      <p:pic>
        <p:nvPicPr>
          <p:cNvPr id="7" name="Obrázek 6">
            <a:extLst>
              <a:ext uri="{FF2B5EF4-FFF2-40B4-BE49-F238E27FC236}">
                <a16:creationId xmlns:a16="http://schemas.microsoft.com/office/drawing/2014/main" id="{1F47C203-2FD9-E044-A160-4637CC036AE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78106" y="4123964"/>
            <a:ext cx="6577892" cy="1968188"/>
          </a:xfrm>
          <a:prstGeom prst="rect">
            <a:avLst/>
          </a:prstGeom>
        </p:spPr>
      </p:pic>
      <p:cxnSp>
        <p:nvCxnSpPr>
          <p:cNvPr id="9" name="Přímá spojnice 8">
            <a:extLst>
              <a:ext uri="{FF2B5EF4-FFF2-40B4-BE49-F238E27FC236}">
                <a16:creationId xmlns:a16="http://schemas.microsoft.com/office/drawing/2014/main" id="{B7F40FD9-D276-CF45-8DD2-57C8BD5EC670}"/>
              </a:ext>
            </a:extLst>
          </p:cNvPr>
          <p:cNvCxnSpPr/>
          <p:nvPr/>
        </p:nvCxnSpPr>
        <p:spPr>
          <a:xfrm>
            <a:off x="2025116" y="4022784"/>
            <a:ext cx="8132812" cy="0"/>
          </a:xfrm>
          <a:prstGeom prst="line">
            <a:avLst/>
          </a:prstGeom>
          <a:ln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835BD51-27BF-A348-BB06-F4C2C2B13BC4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66214826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1.4 </a:t>
            </a:r>
            <a:r>
              <a:rPr lang="cs-CZ" dirty="0" err="1"/>
              <a:t>Objective</a:t>
            </a:r>
            <a:r>
              <a:rPr lang="cs-CZ" dirty="0"/>
              <a:t>-C - ukázka kódu I.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6</a:t>
            </a:fld>
            <a:endParaRPr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8AF15BB4-C171-4A4D-BB28-22004752C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8993" y="598102"/>
            <a:ext cx="1359034" cy="1359034"/>
          </a:xfrm>
          <a:prstGeom prst="rect">
            <a:avLst/>
          </a:prstGeom>
        </p:spPr>
      </p:pic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835BD51-27BF-A348-BB06-F4C2C2B13BC4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38370AF6-A370-364E-A76C-24B319090ED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08017" y="2067042"/>
            <a:ext cx="8438477" cy="3983746"/>
          </a:xfrm>
          <a:prstGeom prst="rect">
            <a:avLst/>
          </a:prstGeom>
        </p:spPr>
      </p:pic>
      <p:sp>
        <p:nvSpPr>
          <p:cNvPr id="5" name="Obdélník 4">
            <a:extLst>
              <a:ext uri="{FF2B5EF4-FFF2-40B4-BE49-F238E27FC236}">
                <a16:creationId xmlns:a16="http://schemas.microsoft.com/office/drawing/2014/main" id="{3EB9C48F-5B92-1B4A-B3D2-63474CF80B36}"/>
              </a:ext>
            </a:extLst>
          </p:cNvPr>
          <p:cNvSpPr/>
          <p:nvPr/>
        </p:nvSpPr>
        <p:spPr>
          <a:xfrm>
            <a:off x="5561210" y="6134020"/>
            <a:ext cx="47852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sz="1400" dirty="0"/>
              <a:t>https://</a:t>
            </a:r>
            <a:r>
              <a:rPr lang="cs-CZ" sz="1400" dirty="0" err="1"/>
              <a:t>awesomeopensource.com</a:t>
            </a:r>
            <a:r>
              <a:rPr lang="cs-CZ" sz="1400" dirty="0"/>
              <a:t>/</a:t>
            </a:r>
            <a:r>
              <a:rPr lang="cs-CZ" sz="1400" dirty="0" err="1"/>
              <a:t>project</a:t>
            </a:r>
            <a:r>
              <a:rPr lang="cs-CZ" sz="1400" dirty="0"/>
              <a:t>/</a:t>
            </a:r>
            <a:r>
              <a:rPr lang="cs-CZ" sz="1400" dirty="0" err="1"/>
              <a:t>Zomato</a:t>
            </a:r>
            <a:r>
              <a:rPr lang="cs-CZ" sz="1400" dirty="0"/>
              <a:t>/DR-</a:t>
            </a:r>
            <a:r>
              <a:rPr lang="cs-CZ" sz="1400" dirty="0" err="1"/>
              <a:t>charts</a:t>
            </a:r>
            <a:endParaRPr lang="cs-CZ" sz="1400" dirty="0"/>
          </a:p>
        </p:txBody>
      </p:sp>
    </p:spTree>
    <p:extLst>
      <p:ext uri="{BB962C8B-B14F-4D97-AF65-F5344CB8AC3E}">
        <p14:creationId xmlns:p14="http://schemas.microsoft.com/office/powerpoint/2010/main" val="1517679030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1.4 </a:t>
            </a:r>
            <a:r>
              <a:rPr lang="cs-CZ" dirty="0" err="1"/>
              <a:t>Objective</a:t>
            </a:r>
            <a:r>
              <a:rPr lang="cs-CZ" dirty="0"/>
              <a:t>-C - ukázka kódu II.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7</a:t>
            </a:fld>
            <a:endParaRPr dirty="0"/>
          </a:p>
        </p:txBody>
      </p:sp>
      <p:pic>
        <p:nvPicPr>
          <p:cNvPr id="3" name="Obrázek 2">
            <a:extLst>
              <a:ext uri="{FF2B5EF4-FFF2-40B4-BE49-F238E27FC236}">
                <a16:creationId xmlns:a16="http://schemas.microsoft.com/office/drawing/2014/main" id="{8AF15BB4-C171-4A4D-BB28-22004752C0E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38993" y="598102"/>
            <a:ext cx="1359034" cy="1359034"/>
          </a:xfrm>
          <a:prstGeom prst="rect">
            <a:avLst/>
          </a:prstGeom>
        </p:spPr>
      </p:pic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5835BD51-27BF-A348-BB06-F4C2C2B13BC4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C16C9CD3-6927-7F42-9DF1-2045798921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04746" y="2150764"/>
            <a:ext cx="8652086" cy="3752297"/>
          </a:xfrm>
          <a:prstGeom prst="rect">
            <a:avLst/>
          </a:prstGeom>
        </p:spPr>
      </p:pic>
      <p:sp>
        <p:nvSpPr>
          <p:cNvPr id="11" name="Obdélník 10">
            <a:extLst>
              <a:ext uri="{FF2B5EF4-FFF2-40B4-BE49-F238E27FC236}">
                <a16:creationId xmlns:a16="http://schemas.microsoft.com/office/drawing/2014/main" id="{E4E93E91-4CC2-7D4C-BB25-6CBC39420A7C}"/>
              </a:ext>
            </a:extLst>
          </p:cNvPr>
          <p:cNvSpPr/>
          <p:nvPr/>
        </p:nvSpPr>
        <p:spPr>
          <a:xfrm>
            <a:off x="5561210" y="6134020"/>
            <a:ext cx="478528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sz="1400" dirty="0"/>
              <a:t>https://</a:t>
            </a:r>
            <a:r>
              <a:rPr lang="cs-CZ" sz="1400" dirty="0" err="1"/>
              <a:t>awesomeopensource.com</a:t>
            </a:r>
            <a:r>
              <a:rPr lang="cs-CZ" sz="1400" dirty="0"/>
              <a:t>/</a:t>
            </a:r>
            <a:r>
              <a:rPr lang="cs-CZ" sz="1400" dirty="0" err="1"/>
              <a:t>project</a:t>
            </a:r>
            <a:r>
              <a:rPr lang="cs-CZ" sz="1400" dirty="0"/>
              <a:t>/</a:t>
            </a:r>
            <a:r>
              <a:rPr lang="cs-CZ" sz="1400" dirty="0" err="1"/>
              <a:t>Zomato</a:t>
            </a:r>
            <a:r>
              <a:rPr lang="cs-CZ" sz="1400" dirty="0"/>
              <a:t>/DR-</a:t>
            </a:r>
            <a:r>
              <a:rPr lang="cs-CZ" sz="1400" dirty="0" err="1"/>
              <a:t>charts</a:t>
            </a:r>
            <a:endParaRPr lang="cs-CZ" sz="1400" dirty="0"/>
          </a:p>
        </p:txBody>
      </p:sp>
    </p:spTree>
    <p:extLst>
      <p:ext uri="{BB962C8B-B14F-4D97-AF65-F5344CB8AC3E}">
        <p14:creationId xmlns:p14="http://schemas.microsoft.com/office/powerpoint/2010/main" val="3358903349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/>
          <a:lstStyle>
            <a:lvl1pPr algn="l">
              <a:defRPr sz="3200"/>
            </a:lvl1pPr>
          </a:lstStyle>
          <a:p>
            <a:r>
              <a:rPr lang="cs-CZ" dirty="0"/>
              <a:t>2.2 Vývojářský účet Apple ID</a:t>
            </a:r>
            <a:endParaRPr dirty="0"/>
          </a:p>
        </p:txBody>
      </p:sp>
      <p:sp>
        <p:nvSpPr>
          <p:cNvPr id="12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48880"/>
            <a:ext cx="4624328" cy="3528393"/>
          </a:xfrm>
          <a:prstGeom prst="rect">
            <a:avLst/>
          </a:prstGeom>
        </p:spPr>
        <p:txBody>
          <a:bodyPr/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Uživatel musí mít zaregistrované tzv. Apple ID, aby si mohl vytvořit účet vývojáře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Pak je možné stáhnout vývojový software </a:t>
            </a:r>
            <a:r>
              <a:rPr lang="cs-CZ" sz="1800" dirty="0" err="1">
                <a:sym typeface="Source Sans Pro Semibold"/>
              </a:rPr>
              <a:t>Xcode</a:t>
            </a:r>
            <a:r>
              <a:rPr lang="cs-CZ" sz="1800" dirty="0">
                <a:sym typeface="Source Sans Pro Semibold"/>
              </a:rPr>
              <a:t> a další SDK nástroje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Základní účet vývojáře je zdarma, ale v případě, že chceme umístit aplikace na </a:t>
            </a:r>
            <a:r>
              <a:rPr lang="cs-CZ" sz="1800" dirty="0" err="1">
                <a:sym typeface="Source Sans Pro Semibold"/>
              </a:rPr>
              <a:t>App</a:t>
            </a:r>
            <a:r>
              <a:rPr lang="cs-CZ" sz="1800" dirty="0">
                <a:sym typeface="Source Sans Pro Semibold"/>
              </a:rPr>
              <a:t> </a:t>
            </a:r>
            <a:r>
              <a:rPr lang="cs-CZ" sz="1800" dirty="0" err="1">
                <a:sym typeface="Source Sans Pro Semibold"/>
              </a:rPr>
              <a:t>Store</a:t>
            </a:r>
            <a:r>
              <a:rPr lang="cs-CZ" sz="1800" dirty="0">
                <a:sym typeface="Source Sans Pro Semibold"/>
              </a:rPr>
              <a:t> je už vyžadována placená varianta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Účet je nutný pro nasazení aplikace do reálného zařízení iPhone/</a:t>
            </a:r>
            <a:r>
              <a:rPr lang="cs-CZ" sz="1800" dirty="0" err="1">
                <a:sym typeface="Source Sans Pro Semibold"/>
              </a:rPr>
              <a:t>iPad</a:t>
            </a:r>
            <a:r>
              <a:rPr lang="cs-CZ" sz="1800" dirty="0">
                <a:sym typeface="Source Sans Pro Semibold"/>
              </a:rPr>
              <a:t> za účelem testování</a:t>
            </a:r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8</a:t>
            </a:fld>
            <a:endParaRPr dirty="0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F580F378-44FB-B54D-8C81-BCEF2F9071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608" y="5071258"/>
            <a:ext cx="1701800" cy="419100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A20899D8-C330-1E4A-B816-3E2EF8C8FC91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sp>
        <p:nvSpPr>
          <p:cNvPr id="4" name="Obdélník 3">
            <a:extLst>
              <a:ext uri="{FF2B5EF4-FFF2-40B4-BE49-F238E27FC236}">
                <a16:creationId xmlns:a16="http://schemas.microsoft.com/office/drawing/2014/main" id="{D5179D1A-87D6-A140-B270-60A422E1FB74}"/>
              </a:ext>
            </a:extLst>
          </p:cNvPr>
          <p:cNvSpPr/>
          <p:nvPr/>
        </p:nvSpPr>
        <p:spPr>
          <a:xfrm>
            <a:off x="7123587" y="1962579"/>
            <a:ext cx="358784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cs-CZ" dirty="0"/>
              <a:t>https://</a:t>
            </a:r>
            <a:r>
              <a:rPr lang="cs-CZ" dirty="0" err="1"/>
              <a:t>appleid.apple.com</a:t>
            </a:r>
            <a:r>
              <a:rPr lang="cs-CZ" dirty="0"/>
              <a:t>/</a:t>
            </a:r>
            <a:r>
              <a:rPr lang="cs-CZ" dirty="0" err="1"/>
              <a:t>account</a:t>
            </a:r>
            <a:endParaRPr lang="cs-CZ" dirty="0"/>
          </a:p>
        </p:txBody>
      </p:sp>
      <p:sp>
        <p:nvSpPr>
          <p:cNvPr id="5" name="Šipka dolů 4">
            <a:extLst>
              <a:ext uri="{FF2B5EF4-FFF2-40B4-BE49-F238E27FC236}">
                <a16:creationId xmlns:a16="http://schemas.microsoft.com/office/drawing/2014/main" id="{73470178-7AE5-234E-8012-F2F9A857A460}"/>
              </a:ext>
            </a:extLst>
          </p:cNvPr>
          <p:cNvSpPr/>
          <p:nvPr/>
        </p:nvSpPr>
        <p:spPr>
          <a:xfrm>
            <a:off x="8838902" y="4474657"/>
            <a:ext cx="157212" cy="365997"/>
          </a:xfrm>
          <a:prstGeom prst="downArrow">
            <a:avLst/>
          </a:prstGeom>
          <a:solidFill>
            <a:srgbClr val="FFFFFF"/>
          </a:solidFill>
          <a:ln w="25400" cap="flat">
            <a:solidFill>
              <a:schemeClr val="accent1"/>
            </a:solidFill>
            <a:prstDash val="solid"/>
            <a:round/>
          </a:ln>
          <a:effectLst>
            <a:outerShdw blurRad="38100" dist="23000" dir="5400000" rotWithShape="0">
              <a:srgbClr val="000000">
                <a:alpha val="35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1028" name="Picture 4" descr="Jak smazat Apple ID účet u Applu • MacPodpora CZ">
            <a:extLst>
              <a:ext uri="{FF2B5EF4-FFF2-40B4-BE49-F238E27FC236}">
                <a16:creationId xmlns:a16="http://schemas.microsoft.com/office/drawing/2014/main" id="{70ED7FA5-B35F-3243-AC56-46AB608A9C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59229" y="2518018"/>
            <a:ext cx="1821963" cy="18219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2.3 Druhy vývojářských účtů</a:t>
            </a:r>
            <a:endParaRPr dirty="0"/>
          </a:p>
        </p:txBody>
      </p:sp>
      <p:sp>
        <p:nvSpPr>
          <p:cNvPr id="12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48880"/>
            <a:ext cx="6029316" cy="3528393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Účet je potřeba vždy, když chceme aplikace dále distribuovat a jsou k dispozici tyto druhy: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b="1" i="1" dirty="0">
                <a:sym typeface="Source Sans Pro Semibold"/>
              </a:rPr>
              <a:t>Účet pro jednotlivce </a:t>
            </a:r>
            <a:r>
              <a:rPr lang="cs-CZ" sz="1800" b="1" dirty="0">
                <a:sym typeface="Source Sans Pro Semibold"/>
              </a:rPr>
              <a:t>– Aplikace jsou na </a:t>
            </a:r>
            <a:r>
              <a:rPr lang="cs-CZ" sz="1800" b="1" dirty="0" err="1">
                <a:sym typeface="Source Sans Pro Semibold"/>
              </a:rPr>
              <a:t>App</a:t>
            </a:r>
            <a:r>
              <a:rPr lang="cs-CZ" sz="1800" b="1" dirty="0">
                <a:sym typeface="Source Sans Pro Semibold"/>
              </a:rPr>
              <a:t> </a:t>
            </a:r>
            <a:r>
              <a:rPr lang="cs-CZ" sz="1800" b="1" dirty="0" err="1">
                <a:sym typeface="Source Sans Pro Semibold"/>
              </a:rPr>
              <a:t>Store</a:t>
            </a:r>
            <a:r>
              <a:rPr lang="cs-CZ" sz="1800" b="1" dirty="0">
                <a:sym typeface="Source Sans Pro Semibold"/>
              </a:rPr>
              <a:t> zařazeny pod jménem vývojáře</a:t>
            </a:r>
            <a:endParaRPr lang="cs-CZ" sz="1800" dirty="0">
              <a:sym typeface="Source Sans Pro Semibold"/>
            </a:endParaRP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b="1" i="1" dirty="0">
                <a:sym typeface="Source Sans Pro Semibold"/>
              </a:rPr>
              <a:t>Účet organizace</a:t>
            </a:r>
            <a:r>
              <a:rPr lang="cs-CZ" sz="1800" b="1" dirty="0">
                <a:sym typeface="Source Sans Pro Semibold"/>
              </a:rPr>
              <a:t> – Aplikace figurují pod právním názvem organizace</a:t>
            </a:r>
            <a:endParaRPr lang="cs-CZ" sz="1800" dirty="0">
              <a:sym typeface="Source Sans Pro Semibold"/>
            </a:endParaRP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Společnosti a vzdělávací organizace musí poskytnout </a:t>
            </a:r>
            <a:r>
              <a:rPr lang="cs-CZ" sz="1800" dirty="0" err="1">
                <a:sym typeface="Source Sans Pro Semibold"/>
              </a:rPr>
              <a:t>tzv</a:t>
            </a:r>
            <a:r>
              <a:rPr lang="cs-CZ" sz="1800" dirty="0">
                <a:sym typeface="Source Sans Pro Semibold"/>
              </a:rPr>
              <a:t> D-U-N-S číslo 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Roční poplatek je 99 USD [2]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+ speciální </a:t>
            </a:r>
            <a:r>
              <a:rPr lang="cs-CZ" sz="1800" b="1" i="1" dirty="0">
                <a:sym typeface="Source Sans Pro Semibold"/>
              </a:rPr>
              <a:t>účet pro velké organizace</a:t>
            </a:r>
            <a:r>
              <a:rPr lang="cs-CZ" sz="1800" dirty="0">
                <a:sym typeface="Source Sans Pro Semibold"/>
              </a:rPr>
              <a:t> a distribuci in-house aplikací – 299 USD/rok</a:t>
            </a:r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9</a:t>
            </a:fld>
            <a:endParaRPr dirty="0"/>
          </a:p>
        </p:txBody>
      </p:sp>
      <p:pic>
        <p:nvPicPr>
          <p:cNvPr id="11" name="Obrázek 10">
            <a:extLst>
              <a:ext uri="{FF2B5EF4-FFF2-40B4-BE49-F238E27FC236}">
                <a16:creationId xmlns:a16="http://schemas.microsoft.com/office/drawing/2014/main" id="{5A3920CF-1654-FB43-8573-2BCE9A39F6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74721" y="3219450"/>
            <a:ext cx="1701800" cy="419100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A074BFA7-3103-AE4E-8608-7163813D5631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202449168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2.4 Srovnání možnosti vývoje I.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10</a:t>
            </a:fld>
            <a:endParaRPr dirty="0"/>
          </a:p>
        </p:txBody>
      </p:sp>
      <p:graphicFrame>
        <p:nvGraphicFramePr>
          <p:cNvPr id="3" name="Tabulka 2">
            <a:extLst>
              <a:ext uri="{FF2B5EF4-FFF2-40B4-BE49-F238E27FC236}">
                <a16:creationId xmlns:a16="http://schemas.microsoft.com/office/drawing/2014/main" id="{ECCD30FA-85E1-954B-A0B8-04ED244366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1743811"/>
              </p:ext>
            </p:extLst>
          </p:nvPr>
        </p:nvGraphicFramePr>
        <p:xfrm>
          <a:off x="2206676" y="3084541"/>
          <a:ext cx="7363210" cy="2377440"/>
        </p:xfrm>
        <a:graphic>
          <a:graphicData uri="http://schemas.openxmlformats.org/drawingml/2006/table">
            <a:tbl>
              <a:tblPr/>
              <a:tblGrid>
                <a:gridCol w="3756692">
                  <a:extLst>
                    <a:ext uri="{9D8B030D-6E8A-4147-A177-3AD203B41FA5}">
                      <a16:colId xmlns:a16="http://schemas.microsoft.com/office/drawing/2014/main" val="2240415343"/>
                    </a:ext>
                  </a:extLst>
                </a:gridCol>
                <a:gridCol w="1803259">
                  <a:extLst>
                    <a:ext uri="{9D8B030D-6E8A-4147-A177-3AD203B41FA5}">
                      <a16:colId xmlns:a16="http://schemas.microsoft.com/office/drawing/2014/main" val="2450416544"/>
                    </a:ext>
                  </a:extLst>
                </a:gridCol>
                <a:gridCol w="1803259">
                  <a:extLst>
                    <a:ext uri="{9D8B030D-6E8A-4147-A177-3AD203B41FA5}">
                      <a16:colId xmlns:a16="http://schemas.microsoft.com/office/drawing/2014/main" val="40607453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/>
                      <a:r>
                        <a:rPr lang="cs-CZ" b="0" i="0">
                          <a:effectLst/>
                        </a:rPr>
                        <a:t> 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i="0">
                          <a:effectLst/>
                        </a:rPr>
                        <a:t>Sign In with Your Apple ID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b="1" i="0">
                          <a:effectLst/>
                        </a:rPr>
                        <a:t>Apple Developer Program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991002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cs-CZ">
                          <a:effectLst/>
                        </a:rPr>
                        <a:t>Xcode developer 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>
                          <a:effectLst/>
                        </a:rPr>
                        <a:t>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>
                          <a:effectLst/>
                        </a:rPr>
                        <a:t>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139000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cs-CZ">
                          <a:effectLst/>
                        </a:rPr>
                        <a:t>Xcode beta releases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>
                          <a:effectLst/>
                        </a:rPr>
                        <a:t>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>
                          <a:effectLst/>
                        </a:rPr>
                        <a:t>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38505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cs-CZ">
                          <a:effectLst/>
                        </a:rPr>
                        <a:t>On-device testing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>
                          <a:effectLst/>
                        </a:rPr>
                        <a:t>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>
                          <a:effectLst/>
                        </a:rPr>
                        <a:t>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7071317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cs-CZ">
                          <a:effectLst/>
                        </a:rPr>
                        <a:t>Developer forums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>
                          <a:effectLst/>
                        </a:rPr>
                        <a:t>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>
                          <a:effectLst/>
                        </a:rPr>
                        <a:t>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17006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cs-CZ">
                          <a:effectLst/>
                        </a:rPr>
                        <a:t>Bug reporting with Feedback Assistant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>
                          <a:effectLst/>
                        </a:rPr>
                        <a:t>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>
                          <a:effectLst/>
                        </a:rPr>
                        <a:t>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57963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cs-CZ">
                          <a:effectLst/>
                        </a:rPr>
                        <a:t>OS beta releases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>
                          <a:effectLst/>
                        </a:rPr>
                        <a:t>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303116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cs-CZ">
                          <a:effectLst/>
                        </a:rPr>
                        <a:t>Advanced app capabilities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>
                        <a:effectLst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dirty="0">
                          <a:effectLst/>
                        </a:rPr>
                        <a:t>●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2193888"/>
                  </a:ext>
                </a:extLst>
              </a:tr>
            </a:tbl>
          </a:graphicData>
        </a:graphic>
      </p:graphicFrame>
      <p:sp>
        <p:nvSpPr>
          <p:cNvPr id="2" name="TextovéPole 1">
            <a:extLst>
              <a:ext uri="{FF2B5EF4-FFF2-40B4-BE49-F238E27FC236}">
                <a16:creationId xmlns:a16="http://schemas.microsoft.com/office/drawing/2014/main" id="{F5B99A89-032F-AA49-B9BD-E78D1EA2A455}"/>
              </a:ext>
            </a:extLst>
          </p:cNvPr>
          <p:cNvSpPr txBox="1"/>
          <p:nvPr/>
        </p:nvSpPr>
        <p:spPr>
          <a:xfrm>
            <a:off x="2248674" y="2295753"/>
            <a:ext cx="6939419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dirty="0"/>
              <a:t>Tabulka níže uvádí možnosti vývoje pomocí Apple ID, které je zdarma a dále možnosti vývoje s placeným účtem vývojáře: [2]</a:t>
            </a:r>
            <a:endParaRPr kumimoji="0" lang="cs-CZ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1140283F-95A2-634D-BACF-8678EE89A9C7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83305380"/>
      </p:ext>
    </p:extLst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2.4 Srovnání možnosti vývoje II.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11</a:t>
            </a:fld>
            <a:endParaRPr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0293709-68F2-624E-A462-D05C9F78C0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06626" y="3177646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cs-CZ" altLang="cs-CZ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endParaRPr kumimoji="0" lang="cs-CZ" altLang="cs-CZ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graphicFrame>
        <p:nvGraphicFramePr>
          <p:cNvPr id="7" name="Tabulka 6">
            <a:extLst>
              <a:ext uri="{FF2B5EF4-FFF2-40B4-BE49-F238E27FC236}">
                <a16:creationId xmlns:a16="http://schemas.microsoft.com/office/drawing/2014/main" id="{29998809-BF1F-FF4D-BBDA-AA503A85C92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87611"/>
              </p:ext>
            </p:extLst>
          </p:nvPr>
        </p:nvGraphicFramePr>
        <p:xfrm>
          <a:off x="2351585" y="2827297"/>
          <a:ext cx="7260501" cy="3088630"/>
        </p:xfrm>
        <a:graphic>
          <a:graphicData uri="http://schemas.openxmlformats.org/drawingml/2006/table">
            <a:tbl>
              <a:tblPr/>
              <a:tblGrid>
                <a:gridCol w="3719961">
                  <a:extLst>
                    <a:ext uri="{9D8B030D-6E8A-4147-A177-3AD203B41FA5}">
                      <a16:colId xmlns:a16="http://schemas.microsoft.com/office/drawing/2014/main" val="1845983450"/>
                    </a:ext>
                  </a:extLst>
                </a:gridCol>
                <a:gridCol w="1770270">
                  <a:extLst>
                    <a:ext uri="{9D8B030D-6E8A-4147-A177-3AD203B41FA5}">
                      <a16:colId xmlns:a16="http://schemas.microsoft.com/office/drawing/2014/main" val="1476718087"/>
                    </a:ext>
                  </a:extLst>
                </a:gridCol>
                <a:gridCol w="1770270">
                  <a:extLst>
                    <a:ext uri="{9D8B030D-6E8A-4147-A177-3AD203B41FA5}">
                      <a16:colId xmlns:a16="http://schemas.microsoft.com/office/drawing/2014/main" val="1708426808"/>
                    </a:ext>
                  </a:extLst>
                </a:gridCol>
              </a:tblGrid>
              <a:tr h="428976">
                <a:tc>
                  <a:txBody>
                    <a:bodyPr/>
                    <a:lstStyle/>
                    <a:p>
                      <a:pPr algn="l"/>
                      <a:r>
                        <a:rPr lang="cs-CZ" sz="1000" b="0" i="0">
                          <a:effectLst/>
                        </a:rPr>
                        <a:t> 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b="1" i="0">
                          <a:effectLst/>
                        </a:rPr>
                        <a:t>Sign In with Your Apple ID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b="1" i="0">
                          <a:effectLst/>
                        </a:rPr>
                        <a:t>Apple Developer Program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9063076"/>
                  </a:ext>
                </a:extLst>
              </a:tr>
              <a:tr h="257386">
                <a:tc>
                  <a:txBody>
                    <a:bodyPr/>
                    <a:lstStyle/>
                    <a:p>
                      <a:pPr algn="l"/>
                      <a:r>
                        <a:rPr lang="cs-CZ" sz="1000">
                          <a:effectLst/>
                        </a:rPr>
                        <a:t>Code-level support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000">
                        <a:effectLst/>
                      </a:endParaRP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>
                          <a:effectLst/>
                        </a:rPr>
                        <a:t>●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65058591"/>
                  </a:ext>
                </a:extLst>
              </a:tr>
              <a:tr h="257386">
                <a:tc>
                  <a:txBody>
                    <a:bodyPr/>
                    <a:lstStyle/>
                    <a:p>
                      <a:pPr algn="l"/>
                      <a:r>
                        <a:rPr lang="cs-CZ" sz="1000">
                          <a:effectLst/>
                        </a:rPr>
                        <a:t>App distribution on the App Store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000">
                        <a:effectLst/>
                      </a:endParaRP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>
                          <a:effectLst/>
                        </a:rPr>
                        <a:t>●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45955032"/>
                  </a:ext>
                </a:extLst>
              </a:tr>
              <a:tr h="428976">
                <a:tc>
                  <a:txBody>
                    <a:bodyPr/>
                    <a:lstStyle/>
                    <a:p>
                      <a:pPr algn="l"/>
                      <a:r>
                        <a:rPr lang="cs-CZ" sz="1000">
                          <a:effectLst/>
                        </a:rPr>
                        <a:t>App management, testing, analytics with App Store Connect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000">
                        <a:effectLst/>
                      </a:endParaRP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>
                          <a:effectLst/>
                        </a:rPr>
                        <a:t>●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5943387"/>
                  </a:ext>
                </a:extLst>
              </a:tr>
              <a:tr h="257386">
                <a:tc>
                  <a:txBody>
                    <a:bodyPr/>
                    <a:lstStyle/>
                    <a:p>
                      <a:pPr algn="l"/>
                      <a:r>
                        <a:rPr lang="cs-CZ" sz="1000">
                          <a:effectLst/>
                        </a:rPr>
                        <a:t>Safari Extensions distribution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000">
                        <a:effectLst/>
                      </a:endParaRP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>
                          <a:effectLst/>
                        </a:rPr>
                        <a:t>●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97885036"/>
                  </a:ext>
                </a:extLst>
              </a:tr>
              <a:tr h="257386">
                <a:tc>
                  <a:txBody>
                    <a:bodyPr/>
                    <a:lstStyle/>
                    <a:p>
                      <a:pPr algn="l"/>
                      <a:r>
                        <a:rPr lang="cs-CZ" sz="1000">
                          <a:effectLst/>
                        </a:rPr>
                        <a:t>Software distribution outside the Mac App Store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000">
                        <a:effectLst/>
                      </a:endParaRP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>
                          <a:effectLst/>
                        </a:rPr>
                        <a:t>●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10230325"/>
                  </a:ext>
                </a:extLst>
              </a:tr>
              <a:tr h="257386">
                <a:tc>
                  <a:txBody>
                    <a:bodyPr/>
                    <a:lstStyle/>
                    <a:p>
                      <a:endParaRPr lang="cs-CZ" sz="1000" dirty="0"/>
                    </a:p>
                  </a:txBody>
                  <a:tcPr marL="79403" marR="79403" marT="39701" marB="3970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cs-CZ" sz="1000" dirty="0"/>
                    </a:p>
                  </a:txBody>
                  <a:tcPr marL="79403" marR="79403" marT="39701" marB="3970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cs-CZ" sz="1000" dirty="0"/>
                    </a:p>
                  </a:txBody>
                  <a:tcPr marL="79403" marR="79403" marT="39701" marB="39701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841037227"/>
                  </a:ext>
                </a:extLst>
              </a:tr>
              <a:tr h="257386">
                <a:tc>
                  <a:txBody>
                    <a:bodyPr/>
                    <a:lstStyle/>
                    <a:p>
                      <a:pPr algn="l"/>
                      <a:r>
                        <a:rPr lang="cs-CZ" sz="1000">
                          <a:effectLst/>
                        </a:rPr>
                        <a:t>Custom app distribution with Apple Business Manager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000" dirty="0">
                        <a:effectLst/>
                      </a:endParaRP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>
                          <a:effectLst/>
                        </a:rPr>
                        <a:t>●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12700" cmpd="sng">
                      <a:noFill/>
                      <a:prstDash val="soli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22457333"/>
                  </a:ext>
                </a:extLst>
              </a:tr>
              <a:tr h="428976">
                <a:tc>
                  <a:txBody>
                    <a:bodyPr/>
                    <a:lstStyle/>
                    <a:p>
                      <a:pPr algn="l"/>
                      <a:r>
                        <a:rPr lang="cs-CZ" sz="1000">
                          <a:effectLst/>
                        </a:rPr>
                        <a:t>Proprietary app distribution to your employees with Apple Business Manager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cs-CZ" sz="1000">
                        <a:effectLst/>
                      </a:endParaRP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>
                          <a:effectLst/>
                        </a:rPr>
                        <a:t>●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7230756"/>
                  </a:ext>
                </a:extLst>
              </a:tr>
              <a:tr h="257386">
                <a:tc>
                  <a:txBody>
                    <a:bodyPr/>
                    <a:lstStyle/>
                    <a:p>
                      <a:pPr algn="l"/>
                      <a:r>
                        <a:rPr lang="cs-CZ" sz="1000">
                          <a:effectLst/>
                        </a:rPr>
                        <a:t>Cost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>
                          <a:effectLst/>
                        </a:rPr>
                        <a:t>Free</a:t>
                      </a: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cs-CZ" sz="1000" dirty="0">
                          <a:effectLst/>
                        </a:rPr>
                        <a:t>99 USD/</a:t>
                      </a:r>
                      <a:r>
                        <a:rPr lang="cs-CZ" sz="1000" dirty="0" err="1">
                          <a:effectLst/>
                        </a:rPr>
                        <a:t>year</a:t>
                      </a:r>
                      <a:endParaRPr lang="cs-CZ" sz="1000" dirty="0">
                        <a:effectLst/>
                      </a:endParaRPr>
                    </a:p>
                  </a:txBody>
                  <a:tcPr marL="79403" marR="79403" marT="39701" marB="39701" anchor="ctr">
                    <a:lnL>
                      <a:noFill/>
                    </a:lnL>
                    <a:lnR>
                      <a:noFill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34177493"/>
                  </a:ext>
                </a:extLst>
              </a:tr>
            </a:tbl>
          </a:graphicData>
        </a:graphic>
      </p:graphicFrame>
      <p:sp>
        <p:nvSpPr>
          <p:cNvPr id="11" name="TextovéPole 10">
            <a:extLst>
              <a:ext uri="{FF2B5EF4-FFF2-40B4-BE49-F238E27FC236}">
                <a16:creationId xmlns:a16="http://schemas.microsoft.com/office/drawing/2014/main" id="{12341513-5679-524C-BAA0-59FE8936A74F}"/>
              </a:ext>
            </a:extLst>
          </p:cNvPr>
          <p:cNvSpPr txBox="1"/>
          <p:nvPr/>
        </p:nvSpPr>
        <p:spPr>
          <a:xfrm>
            <a:off x="2351585" y="2233350"/>
            <a:ext cx="6939419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dirty="0"/>
              <a:t>Tabulka níže uvádí možnosti vývoje pomocí Apple ID, které je zdarma a dále možnosti vývoje s placeným účtem vývojáře: [2]</a:t>
            </a:r>
            <a:endParaRPr kumimoji="0" lang="cs-CZ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DBD981F4-A4E3-0F43-A30B-45FB5D7169E1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55735438"/>
      </p:ext>
    </p:extLst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>
            <a:spLocks noGrp="1"/>
          </p:cNvSpPr>
          <p:nvPr>
            <p:ph type="ctrTitle"/>
          </p:nvPr>
        </p:nvSpPr>
        <p:spPr>
          <a:xfrm>
            <a:off x="2244688" y="2693987"/>
            <a:ext cx="7702623" cy="1470026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3</a:t>
            </a:r>
            <a:r>
              <a:rPr dirty="0"/>
              <a:t>. </a:t>
            </a:r>
            <a:r>
              <a:rPr lang="cs-CZ" dirty="0"/>
              <a:t>Vývojový nástroj </a:t>
            </a:r>
            <a:r>
              <a:rPr lang="cs-CZ" dirty="0" err="1"/>
              <a:t>Xcode</a:t>
            </a:r>
            <a:endParaRPr dirty="0"/>
          </a:p>
        </p:txBody>
      </p:sp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Zástupný symbol pro číslo snímku 11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12</a:t>
            </a:fld>
            <a:endParaRPr/>
          </a:p>
        </p:txBody>
      </p:sp>
      <p:pic>
        <p:nvPicPr>
          <p:cNvPr id="10" name="Obrázek 9" descr="Obrázek 12">
            <a:extLst>
              <a:ext uri="{FF2B5EF4-FFF2-40B4-BE49-F238E27FC236}">
                <a16:creationId xmlns:a16="http://schemas.microsoft.com/office/drawing/2014/main" id="{30EDBE9E-0C68-41DB-9978-0D694C7D65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929" y="38360"/>
            <a:ext cx="5759451" cy="1277620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F581F3C3-6A5E-B64E-A5E0-07C67EC965E0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38759260"/>
      </p:ext>
    </p:extLst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3.1 Tvorba nového projektu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13</a:t>
            </a:fld>
            <a:endParaRPr dirty="0"/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9A19D99A-DBE8-1144-AAAE-2A605BED9C1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30891" y="2334773"/>
            <a:ext cx="4065109" cy="3644290"/>
          </a:xfrm>
          <a:prstGeom prst="rect">
            <a:avLst/>
          </a:prstGeom>
        </p:spPr>
      </p:pic>
      <p:sp>
        <p:nvSpPr>
          <p:cNvPr id="6" name="Šipka vpravo 5">
            <a:extLst>
              <a:ext uri="{FF2B5EF4-FFF2-40B4-BE49-F238E27FC236}">
                <a16:creationId xmlns:a16="http://schemas.microsoft.com/office/drawing/2014/main" id="{C81E092E-9E04-6D4C-B85F-61C1CCE41D16}"/>
              </a:ext>
            </a:extLst>
          </p:cNvPr>
          <p:cNvSpPr/>
          <p:nvPr/>
        </p:nvSpPr>
        <p:spPr>
          <a:xfrm>
            <a:off x="1778697" y="4884066"/>
            <a:ext cx="655538" cy="689995"/>
          </a:xfrm>
          <a:prstGeom prst="rightArrow">
            <a:avLst>
              <a:gd name="adj1" fmla="val 13692"/>
              <a:gd name="adj2" fmla="val 34713"/>
            </a:avLst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1800" i="0" u="none" strike="noStrike" normalizeH="0" baseline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78A029DE-F21C-9C47-8DAB-766F3B3418F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0871" y="2334773"/>
            <a:ext cx="5267083" cy="2450501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BCCE377D-EE23-9B46-9B38-4E72B826591F}"/>
              </a:ext>
            </a:extLst>
          </p:cNvPr>
          <p:cNvSpPr txBox="1"/>
          <p:nvPr/>
        </p:nvSpPr>
        <p:spPr>
          <a:xfrm>
            <a:off x="1632386" y="4702943"/>
            <a:ext cx="39850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1.</a:t>
            </a: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730BAC56-E237-5849-8EA3-4C011BC90A62}"/>
              </a:ext>
            </a:extLst>
          </p:cNvPr>
          <p:cNvSpPr txBox="1"/>
          <p:nvPr/>
        </p:nvSpPr>
        <p:spPr>
          <a:xfrm>
            <a:off x="7182296" y="2977881"/>
            <a:ext cx="398505" cy="584773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3200" i="0" u="none" strike="noStrike" normalizeH="0" baseline="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2.</a:t>
            </a:r>
            <a:endParaRPr kumimoji="0" lang="cs-CZ" sz="3200" b="0" i="0" u="none" strike="noStrike" cap="none" spc="0" normalizeH="0" baseline="0" dirty="0">
              <a:ln>
                <a:noFill/>
              </a:ln>
              <a:solidFill>
                <a:srgbClr val="FF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2" name="TextovéPole 1">
            <a:extLst>
              <a:ext uri="{FF2B5EF4-FFF2-40B4-BE49-F238E27FC236}">
                <a16:creationId xmlns:a16="http://schemas.microsoft.com/office/drawing/2014/main" id="{D771CDDF-7090-724C-BB80-90F4625A31AB}"/>
              </a:ext>
            </a:extLst>
          </p:cNvPr>
          <p:cNvSpPr txBox="1"/>
          <p:nvPr/>
        </p:nvSpPr>
        <p:spPr>
          <a:xfrm>
            <a:off x="6251419" y="4884066"/>
            <a:ext cx="5017754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K dispozici je několik předpřipravených šablon různých typů mobilních aplikací:</a:t>
            </a:r>
            <a:b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Jedno okenní aplikace, hra, rozšířená realita…</a:t>
            </a:r>
          </a:p>
        </p:txBody>
      </p: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A7B359CE-5060-6048-A636-48E77B92E668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62312911"/>
      </p:ext>
    </p:extLst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Obrázek 6">
            <a:extLst>
              <a:ext uri="{FF2B5EF4-FFF2-40B4-BE49-F238E27FC236}">
                <a16:creationId xmlns:a16="http://schemas.microsoft.com/office/drawing/2014/main" id="{4A261174-C105-4C4F-9371-A3C97BA1A0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33855" y="2292356"/>
            <a:ext cx="5491284" cy="3912635"/>
          </a:xfrm>
          <a:prstGeom prst="rect">
            <a:avLst/>
          </a:prstGeom>
        </p:spPr>
      </p:pic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3.2 Nastavení projektu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14</a:t>
            </a:fld>
            <a:endParaRPr dirty="0"/>
          </a:p>
        </p:txBody>
      </p:sp>
      <p:sp>
        <p:nvSpPr>
          <p:cNvPr id="6" name="Šipka vpravo 5">
            <a:extLst>
              <a:ext uri="{FF2B5EF4-FFF2-40B4-BE49-F238E27FC236}">
                <a16:creationId xmlns:a16="http://schemas.microsoft.com/office/drawing/2014/main" id="{C81E092E-9E04-6D4C-B85F-61C1CCE41D16}"/>
              </a:ext>
            </a:extLst>
          </p:cNvPr>
          <p:cNvSpPr/>
          <p:nvPr/>
        </p:nvSpPr>
        <p:spPr>
          <a:xfrm rot="10800000">
            <a:off x="10488049" y="4163741"/>
            <a:ext cx="576943" cy="163286"/>
          </a:xfrm>
          <a:prstGeom prst="rightArrow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5" name="Šipka vpravo 14">
            <a:extLst>
              <a:ext uri="{FF2B5EF4-FFF2-40B4-BE49-F238E27FC236}">
                <a16:creationId xmlns:a16="http://schemas.microsoft.com/office/drawing/2014/main" id="{F2D68339-E312-0043-8A0F-E81F5D9060F2}"/>
              </a:ext>
            </a:extLst>
          </p:cNvPr>
          <p:cNvSpPr/>
          <p:nvPr/>
        </p:nvSpPr>
        <p:spPr>
          <a:xfrm rot="10800000">
            <a:off x="10488049" y="4435492"/>
            <a:ext cx="576943" cy="163286"/>
          </a:xfrm>
          <a:prstGeom prst="rightArrow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D6E2104F-53FA-734A-97B0-78D63BD7D625}"/>
              </a:ext>
            </a:extLst>
          </p:cNvPr>
          <p:cNvSpPr txBox="1">
            <a:spLocks/>
          </p:cNvSpPr>
          <p:nvPr/>
        </p:nvSpPr>
        <p:spPr>
          <a:xfrm>
            <a:off x="2063550" y="2348880"/>
            <a:ext cx="3773579" cy="35283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>
            <a:lvl1pPr marL="0" marR="0" indent="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1pPr>
            <a:lvl2pPr marL="0" marR="0" indent="4572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2pPr>
            <a:lvl3pPr marL="0" marR="0" indent="9144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3pPr>
            <a:lvl4pPr marL="0" marR="0" indent="13716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4pPr>
            <a:lvl5pPr marL="0" marR="0" indent="1828800" algn="ctr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3200" b="0" i="0" u="none" strike="noStrike" cap="none" spc="0" baseline="0">
                <a:ln>
                  <a:noFill/>
                </a:ln>
                <a:solidFill>
                  <a:srgbClr val="888888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5pPr>
            <a:lvl6pPr marL="26517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6pPr>
            <a:lvl7pPr marL="3108960" marR="0" indent="-365760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7pPr>
            <a:lvl8pPr marL="35661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8pPr>
            <a:lvl9pPr marL="4023359" marR="0" indent="-365759" algn="l" defTabSz="914400" rtl="0" latinLnBrk="0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ClrTx/>
              <a:buSzPct val="100000"/>
              <a:buFont typeface="Arial"/>
              <a:buChar char="•"/>
              <a:tabLst/>
              <a:defRPr sz="3200" b="0" i="0" u="none" strike="noStrike" cap="none" spc="0" baseline="0">
                <a:ln>
                  <a:noFill/>
                </a:ln>
                <a:solidFill>
                  <a:srgbClr val="000000"/>
                </a:solidFill>
                <a:uFillTx/>
                <a:latin typeface="Source sans Pro"/>
                <a:ea typeface="Source sans Pro"/>
                <a:cs typeface="Source sans Pro"/>
                <a:sym typeface="Source sans Pro"/>
              </a:defRPr>
            </a:lvl9pPr>
          </a:lstStyle>
          <a:p>
            <a:pPr marL="285750" indent="-285750" algn="just" hangingPunct="1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Na úrovni programovacího jazyka lze vybrat projekt pro </a:t>
            </a:r>
            <a:r>
              <a:rPr lang="cs-CZ" sz="1800" dirty="0" err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Objective</a:t>
            </a:r>
            <a:r>
              <a:rPr lang="cs-CZ" sz="1800" dirty="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-C, nebo </a:t>
            </a:r>
            <a:r>
              <a:rPr lang="cs-CZ" sz="1800" dirty="0" err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Swift</a:t>
            </a:r>
            <a:endParaRPr lang="cs-CZ" sz="1800" dirty="0">
              <a:solidFill>
                <a:srgbClr val="000000"/>
              </a:solidFill>
              <a:latin typeface="Source Sans Pro Semibold"/>
              <a:ea typeface="Source Sans Pro Semibold"/>
              <a:cs typeface="Source Sans Pro Semibold"/>
              <a:sym typeface="Source Sans Pro Semibold"/>
            </a:endParaRPr>
          </a:p>
          <a:p>
            <a:pPr marL="285750" indent="-285750" algn="just" hangingPunct="1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Uživatelské rozhraní lze navrhovat pomocí </a:t>
            </a:r>
            <a:r>
              <a:rPr lang="cs-CZ" sz="1800" dirty="0" err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Storyboardů</a:t>
            </a:r>
            <a:r>
              <a:rPr lang="cs-CZ" sz="1800" dirty="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, nebo </a:t>
            </a:r>
            <a:r>
              <a:rPr lang="cs-CZ" sz="1800" dirty="0" err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Swift</a:t>
            </a:r>
            <a:r>
              <a:rPr lang="cs-CZ" sz="1800" dirty="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 UI</a:t>
            </a: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9E618459-D656-B74B-9A35-1ED71102F49E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25685628"/>
      </p:ext>
    </p:extLst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3.3 Přehled prostředí </a:t>
            </a:r>
            <a:r>
              <a:rPr lang="cs-CZ" dirty="0" err="1"/>
              <a:t>Xcode</a:t>
            </a:r>
            <a:r>
              <a:rPr lang="cs-CZ" dirty="0"/>
              <a:t> I.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15</a:t>
            </a:fld>
            <a:endParaRPr dirty="0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55358E9D-5D30-2043-A02C-FC20296C5A7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9485" y="2151381"/>
            <a:ext cx="7368466" cy="4204605"/>
          </a:xfrm>
          <a:prstGeom prst="rect">
            <a:avLst/>
          </a:prstGeom>
        </p:spPr>
      </p:pic>
      <p:sp>
        <p:nvSpPr>
          <p:cNvPr id="3" name="TextovéPole 2">
            <a:extLst>
              <a:ext uri="{FF2B5EF4-FFF2-40B4-BE49-F238E27FC236}">
                <a16:creationId xmlns:a16="http://schemas.microsoft.com/office/drawing/2014/main" id="{F195B96E-ED29-9C48-B20C-B4C84D2785BB}"/>
              </a:ext>
            </a:extLst>
          </p:cNvPr>
          <p:cNvSpPr txBox="1"/>
          <p:nvPr/>
        </p:nvSpPr>
        <p:spPr>
          <a:xfrm>
            <a:off x="1370550" y="2285732"/>
            <a:ext cx="175624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Project </a:t>
            </a:r>
            <a:r>
              <a:rPr kumimoji="0" lang="cs-CZ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navigator</a:t>
            </a:r>
            <a:endParaRPr kumimoji="0" lang="cs-CZ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5" name="Přímá spojovací šipka 4">
            <a:extLst>
              <a:ext uri="{FF2B5EF4-FFF2-40B4-BE49-F238E27FC236}">
                <a16:creationId xmlns:a16="http://schemas.microsoft.com/office/drawing/2014/main" id="{D41C10A5-DEC9-F741-B096-FA9283139D0B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126798" y="2470397"/>
            <a:ext cx="874931" cy="184665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E0B96E82-FFF1-0448-BF5E-6FBDAC3CD8FB}"/>
              </a:ext>
            </a:extLst>
          </p:cNvPr>
          <p:cNvSpPr txBox="1"/>
          <p:nvPr/>
        </p:nvSpPr>
        <p:spPr>
          <a:xfrm>
            <a:off x="1888054" y="2924515"/>
            <a:ext cx="115672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Editor area</a:t>
            </a:r>
          </a:p>
        </p:txBody>
      </p:sp>
      <p:cxnSp>
        <p:nvCxnSpPr>
          <p:cNvPr id="17" name="Přímá spojovací šipka 16">
            <a:extLst>
              <a:ext uri="{FF2B5EF4-FFF2-40B4-BE49-F238E27FC236}">
                <a16:creationId xmlns:a16="http://schemas.microsoft.com/office/drawing/2014/main" id="{C99E2328-950A-8844-B927-CB5426F37331}"/>
              </a:ext>
            </a:extLst>
          </p:cNvPr>
          <p:cNvCxnSpPr>
            <a:cxnSpLocks/>
          </p:cNvCxnSpPr>
          <p:nvPr/>
        </p:nvCxnSpPr>
        <p:spPr>
          <a:xfrm>
            <a:off x="3049650" y="3109180"/>
            <a:ext cx="3252827" cy="646743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1C3F5220-2661-494D-810D-E15A8EE841C2}"/>
              </a:ext>
            </a:extLst>
          </p:cNvPr>
          <p:cNvSpPr txBox="1"/>
          <p:nvPr/>
        </p:nvSpPr>
        <p:spPr>
          <a:xfrm>
            <a:off x="1832353" y="3746091"/>
            <a:ext cx="1151916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Utility area</a:t>
            </a:r>
          </a:p>
        </p:txBody>
      </p:sp>
      <p:cxnSp>
        <p:nvCxnSpPr>
          <p:cNvPr id="20" name="Přímá spojovací šipka 19">
            <a:extLst>
              <a:ext uri="{FF2B5EF4-FFF2-40B4-BE49-F238E27FC236}">
                <a16:creationId xmlns:a16="http://schemas.microsoft.com/office/drawing/2014/main" id="{CDA4F856-C81E-8741-80E5-0022564CD8D7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2984269" y="3930756"/>
            <a:ext cx="7162621" cy="82118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FA1E90C1-47B3-4241-B816-515E800C303A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709765745"/>
      </p:ext>
    </p:extLst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8DAD58CA-619E-C940-9236-DF136E18AE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2773" y="3401867"/>
            <a:ext cx="4381500" cy="419100"/>
          </a:xfrm>
          <a:prstGeom prst="rect">
            <a:avLst/>
          </a:prstGeom>
        </p:spPr>
      </p:pic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3.3 Přehled prostředí </a:t>
            </a:r>
            <a:r>
              <a:rPr lang="cs-CZ" dirty="0" err="1"/>
              <a:t>Xcode</a:t>
            </a:r>
            <a:r>
              <a:rPr lang="cs-CZ" dirty="0"/>
              <a:t> I.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16</a:t>
            </a:fld>
            <a:endParaRPr dirty="0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F195B96E-ED29-9C48-B20C-B4C84D2785BB}"/>
              </a:ext>
            </a:extLst>
          </p:cNvPr>
          <p:cNvSpPr txBox="1"/>
          <p:nvPr/>
        </p:nvSpPr>
        <p:spPr>
          <a:xfrm>
            <a:off x="2691797" y="4209998"/>
            <a:ext cx="1797926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Spuštění aplikace</a:t>
            </a:r>
            <a:br>
              <a:rPr lang="cs-CZ" dirty="0"/>
            </a:br>
            <a:r>
              <a:rPr lang="cs-CZ" dirty="0"/>
              <a:t>do simulátoru</a:t>
            </a:r>
            <a:br>
              <a:rPr lang="cs-CZ" dirty="0"/>
            </a:br>
            <a:r>
              <a:rPr lang="cs-CZ" dirty="0"/>
              <a:t>nebo zařízení</a:t>
            </a:r>
          </a:p>
        </p:txBody>
      </p:sp>
      <p:sp>
        <p:nvSpPr>
          <p:cNvPr id="16" name="TextovéPole 15">
            <a:extLst>
              <a:ext uri="{FF2B5EF4-FFF2-40B4-BE49-F238E27FC236}">
                <a16:creationId xmlns:a16="http://schemas.microsoft.com/office/drawing/2014/main" id="{E0B96E82-FFF1-0448-BF5E-6FBDAC3CD8FB}"/>
              </a:ext>
            </a:extLst>
          </p:cNvPr>
          <p:cNvSpPr txBox="1"/>
          <p:nvPr/>
        </p:nvSpPr>
        <p:spPr>
          <a:xfrm>
            <a:off x="4826815" y="4225315"/>
            <a:ext cx="2492027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Zastavení běžící aplikace</a:t>
            </a:r>
          </a:p>
        </p:txBody>
      </p:sp>
      <p:cxnSp>
        <p:nvCxnSpPr>
          <p:cNvPr id="17" name="Přímá spojovací šipka 16">
            <a:extLst>
              <a:ext uri="{FF2B5EF4-FFF2-40B4-BE49-F238E27FC236}">
                <a16:creationId xmlns:a16="http://schemas.microsoft.com/office/drawing/2014/main" id="{C99E2328-950A-8844-B927-CB5426F37331}"/>
              </a:ext>
            </a:extLst>
          </p:cNvPr>
          <p:cNvCxnSpPr>
            <a:cxnSpLocks/>
            <a:stCxn id="16" idx="0"/>
          </p:cNvCxnSpPr>
          <p:nvPr/>
        </p:nvCxnSpPr>
        <p:spPr>
          <a:xfrm flipH="1" flipV="1">
            <a:off x="5052698" y="3696199"/>
            <a:ext cx="1020131" cy="529116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1C3F5220-2661-494D-810D-E15A8EE841C2}"/>
              </a:ext>
            </a:extLst>
          </p:cNvPr>
          <p:cNvSpPr txBox="1"/>
          <p:nvPr/>
        </p:nvSpPr>
        <p:spPr>
          <a:xfrm>
            <a:off x="7855338" y="4261651"/>
            <a:ext cx="256576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Výběr simulátoru/zařízení</a:t>
            </a:r>
          </a:p>
        </p:txBody>
      </p:sp>
      <p:cxnSp>
        <p:nvCxnSpPr>
          <p:cNvPr id="20" name="Přímá spojovací šipka 19">
            <a:extLst>
              <a:ext uri="{FF2B5EF4-FFF2-40B4-BE49-F238E27FC236}">
                <a16:creationId xmlns:a16="http://schemas.microsoft.com/office/drawing/2014/main" id="{CDA4F856-C81E-8741-80E5-0022564CD8D7}"/>
              </a:ext>
            </a:extLst>
          </p:cNvPr>
          <p:cNvCxnSpPr>
            <a:cxnSpLocks/>
            <a:stCxn id="19" idx="0"/>
          </p:cNvCxnSpPr>
          <p:nvPr/>
        </p:nvCxnSpPr>
        <p:spPr>
          <a:xfrm flipH="1" flipV="1">
            <a:off x="7655934" y="3860361"/>
            <a:ext cx="1482287" cy="40129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3" name="Přímá spojovací šipka 22">
            <a:extLst>
              <a:ext uri="{FF2B5EF4-FFF2-40B4-BE49-F238E27FC236}">
                <a16:creationId xmlns:a16="http://schemas.microsoft.com/office/drawing/2014/main" id="{A50C87FE-12E2-C448-AF09-E9414DCD894D}"/>
              </a:ext>
            </a:extLst>
          </p:cNvPr>
          <p:cNvCxnSpPr>
            <a:cxnSpLocks/>
            <a:stCxn id="3" idx="0"/>
          </p:cNvCxnSpPr>
          <p:nvPr/>
        </p:nvCxnSpPr>
        <p:spPr>
          <a:xfrm flipV="1">
            <a:off x="3590760" y="3694672"/>
            <a:ext cx="806214" cy="515326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5" name="Footer Placeholder 3">
            <a:extLst>
              <a:ext uri="{FF2B5EF4-FFF2-40B4-BE49-F238E27FC236}">
                <a16:creationId xmlns:a16="http://schemas.microsoft.com/office/drawing/2014/main" id="{1905C370-D7DE-F945-A0E6-42F20BA7F384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144830044"/>
      </p:ext>
    </p:extLst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1083A3-B17D-9608-4080-FF264B4A0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>
            <a:extLst>
              <a:ext uri="{FF2B5EF4-FFF2-40B4-BE49-F238E27FC236}">
                <a16:creationId xmlns:a16="http://schemas.microsoft.com/office/drawing/2014/main" id="{0622A7C7-6BEA-2214-DFB2-9FFC4809F18A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2244688" y="2693987"/>
            <a:ext cx="7702623" cy="1470026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4</a:t>
            </a:r>
            <a:r>
              <a:rPr dirty="0"/>
              <a:t>. </a:t>
            </a:r>
            <a:r>
              <a:rPr lang="cs-CZ" dirty="0" err="1"/>
              <a:t>Xcode</a:t>
            </a:r>
            <a:r>
              <a:rPr lang="cs-CZ" dirty="0"/>
              <a:t> a </a:t>
            </a:r>
            <a:r>
              <a:rPr lang="cs-CZ" dirty="0" err="1"/>
              <a:t>Storyboards</a:t>
            </a:r>
            <a:endParaRPr dirty="0"/>
          </a:p>
        </p:txBody>
      </p:sp>
      <p:pic>
        <p:nvPicPr>
          <p:cNvPr id="124" name="Picture 6" descr="Picture 6">
            <a:extLst>
              <a:ext uri="{FF2B5EF4-FFF2-40B4-BE49-F238E27FC236}">
                <a16:creationId xmlns:a16="http://schemas.microsoft.com/office/drawing/2014/main" id="{CAEA3441-1433-796D-34A0-7795D17B66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Zástupný symbol pro číslo snímku 11">
            <a:extLst>
              <a:ext uri="{FF2B5EF4-FFF2-40B4-BE49-F238E27FC236}">
                <a16:creationId xmlns:a16="http://schemas.microsoft.com/office/drawing/2014/main" id="{8FDF6FAB-0E10-91AB-0A45-8ED5F6DB9B2E}"/>
              </a:ext>
            </a:extLst>
          </p:cNvPr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17</a:t>
            </a:fld>
            <a:endParaRPr/>
          </a:p>
        </p:txBody>
      </p:sp>
      <p:pic>
        <p:nvPicPr>
          <p:cNvPr id="10" name="Obrázek 9" descr="Obrázek 12">
            <a:extLst>
              <a:ext uri="{FF2B5EF4-FFF2-40B4-BE49-F238E27FC236}">
                <a16:creationId xmlns:a16="http://schemas.microsoft.com/office/drawing/2014/main" id="{90B21659-54FF-52DF-4372-4C95142D7F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76929" y="38360"/>
            <a:ext cx="5759451" cy="1277620"/>
          </a:xfrm>
          <a:prstGeom prst="rect">
            <a:avLst/>
          </a:prstGeom>
          <a:ln w="12700">
            <a:miter lim="400000"/>
          </a:ln>
        </p:spPr>
      </p:pic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33BF2777-C69F-EB0A-CB5E-71AAB76853EF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65901398"/>
      </p:ext>
    </p:extLst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4.1 Návrh uživatelského rozhraní I.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684" y="6242952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18</a:t>
            </a:fld>
            <a:endParaRPr dirty="0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2F40798F-454E-274B-8A99-82782B0C6BD7}"/>
              </a:ext>
            </a:extLst>
          </p:cNvPr>
          <p:cNvSpPr txBox="1"/>
          <p:nvPr/>
        </p:nvSpPr>
        <p:spPr>
          <a:xfrm>
            <a:off x="2054268" y="2492679"/>
            <a:ext cx="4586708" cy="341631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cs-CZ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Xcode</a:t>
            </a: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umož</a:t>
            </a:r>
            <a:r>
              <a:rPr lang="cs-CZ" dirty="0"/>
              <a:t>ňuje vizuální návrh UI pomocí tzv. </a:t>
            </a:r>
            <a:r>
              <a:rPr lang="cs-CZ" dirty="0" err="1"/>
              <a:t>Storyboards</a:t>
            </a:r>
            <a:r>
              <a:rPr lang="cs-CZ" dirty="0"/>
              <a:t> (nástroj </a:t>
            </a:r>
            <a:r>
              <a:rPr lang="cs-CZ" dirty="0" err="1"/>
              <a:t>InterfaceBuilder</a:t>
            </a:r>
            <a:r>
              <a:rPr lang="cs-CZ" dirty="0"/>
              <a:t>)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cs-CZ" dirty="0"/>
              <a:t>Pomocí </a:t>
            </a:r>
            <a:r>
              <a:rPr lang="cs-CZ" dirty="0" err="1"/>
              <a:t>Storyboards</a:t>
            </a:r>
            <a:r>
              <a:rPr lang="cs-CZ" dirty="0"/>
              <a:t> jsou definovány jednotlivé obrazovky a přechody mezi nimi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lang="cs-CZ" dirty="0"/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cs-CZ" dirty="0"/>
              <a:t>POZOR: </a:t>
            </a:r>
          </a:p>
          <a:p>
            <a:pPr marL="574675" lvl="3" indent="-279400">
              <a:buFont typeface="Arial" panose="020B0604020202020204" pitchFamily="34" charset="0"/>
              <a:buChar char="•"/>
            </a:pPr>
            <a:r>
              <a:rPr lang="cs-CZ" dirty="0"/>
              <a:t>Apple doporučuje přechod na </a:t>
            </a:r>
            <a:r>
              <a:rPr lang="cs-CZ" dirty="0" err="1"/>
              <a:t>SwiftUI</a:t>
            </a:r>
            <a:r>
              <a:rPr lang="cs-CZ" dirty="0"/>
              <a:t> pro všechny nové projekty</a:t>
            </a:r>
          </a:p>
          <a:p>
            <a:pPr marL="574675" lvl="3" indent="-279400">
              <a:buFont typeface="Arial" panose="020B0604020202020204" pitchFamily="34" charset="0"/>
              <a:buChar char="•"/>
            </a:pPr>
            <a:r>
              <a:rPr lang="cs-CZ" dirty="0" err="1"/>
              <a:t>Storyboardy</a:t>
            </a:r>
            <a:r>
              <a:rPr lang="cs-CZ" dirty="0"/>
              <a:t> se stále podporují, ale Apple je označuje jako </a:t>
            </a:r>
            <a:r>
              <a:rPr lang="cs-CZ" b="1" dirty="0" err="1"/>
              <a:t>legacy</a:t>
            </a:r>
            <a:r>
              <a:rPr lang="cs-CZ" dirty="0"/>
              <a:t> přístup</a:t>
            </a:r>
            <a:br>
              <a:rPr lang="cs-CZ" dirty="0"/>
            </a:br>
            <a:endParaRPr lang="cs-CZ" dirty="0"/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cs-CZ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324217D1-286D-B243-AE23-F2F78B3494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06795" y="2197007"/>
            <a:ext cx="4020888" cy="4281169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16FCA168-165F-E340-ADB2-6B82F10A1EC2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52925159"/>
      </p:ext>
    </p:extLst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3.4 Návrh uživatelského rozhraní II.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684" y="6242952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19</a:t>
            </a:fld>
            <a:endParaRPr dirty="0"/>
          </a:p>
        </p:txBody>
      </p:sp>
      <p:grpSp>
        <p:nvGrpSpPr>
          <p:cNvPr id="4" name="Skupina 3">
            <a:extLst>
              <a:ext uri="{FF2B5EF4-FFF2-40B4-BE49-F238E27FC236}">
                <a16:creationId xmlns:a16="http://schemas.microsoft.com/office/drawing/2014/main" id="{529B4AB3-1864-FE43-A7A9-C10F33BCEBC3}"/>
              </a:ext>
            </a:extLst>
          </p:cNvPr>
          <p:cNvGrpSpPr/>
          <p:nvPr/>
        </p:nvGrpSpPr>
        <p:grpSpPr>
          <a:xfrm>
            <a:off x="3305443" y="3345955"/>
            <a:ext cx="8182508" cy="2783924"/>
            <a:chOff x="1396395" y="2154780"/>
            <a:chExt cx="10091556" cy="3975100"/>
          </a:xfrm>
        </p:grpSpPr>
        <p:pic>
          <p:nvPicPr>
            <p:cNvPr id="2" name="Obrázek 1">
              <a:extLst>
                <a:ext uri="{FF2B5EF4-FFF2-40B4-BE49-F238E27FC236}">
                  <a16:creationId xmlns:a16="http://schemas.microsoft.com/office/drawing/2014/main" id="{AFB82AFB-68F8-5D4D-B162-8206CF3921D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531151" y="2154780"/>
              <a:ext cx="9956800" cy="3975100"/>
            </a:xfrm>
            <a:prstGeom prst="rect">
              <a:avLst/>
            </a:prstGeom>
          </p:spPr>
        </p:pic>
        <p:sp>
          <p:nvSpPr>
            <p:cNvPr id="6" name="Šipka vpravo 5">
              <a:extLst>
                <a:ext uri="{FF2B5EF4-FFF2-40B4-BE49-F238E27FC236}">
                  <a16:creationId xmlns:a16="http://schemas.microsoft.com/office/drawing/2014/main" id="{C81E092E-9E04-6D4C-B85F-61C1CCE41D16}"/>
                </a:ext>
              </a:extLst>
            </p:cNvPr>
            <p:cNvSpPr/>
            <p:nvPr/>
          </p:nvSpPr>
          <p:spPr>
            <a:xfrm>
              <a:off x="1396395" y="3516563"/>
              <a:ext cx="576943" cy="163286"/>
            </a:xfrm>
            <a:prstGeom prst="rightArrow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cs-CZ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5" name="Šipka vpravo 14">
              <a:extLst>
                <a:ext uri="{FF2B5EF4-FFF2-40B4-BE49-F238E27FC236}">
                  <a16:creationId xmlns:a16="http://schemas.microsoft.com/office/drawing/2014/main" id="{F2D68339-E312-0043-8A0F-E81F5D9060F2}"/>
                </a:ext>
              </a:extLst>
            </p:cNvPr>
            <p:cNvSpPr/>
            <p:nvPr/>
          </p:nvSpPr>
          <p:spPr>
            <a:xfrm rot="16200000">
              <a:off x="5469562" y="4490625"/>
              <a:ext cx="576943" cy="163286"/>
            </a:xfrm>
            <a:prstGeom prst="rightArrow">
              <a:avLst/>
            </a:prstGeom>
            <a:ln/>
          </p:spPr>
          <p:style>
            <a:lnRef idx="2">
              <a:schemeClr val="accent2">
                <a:shade val="50000"/>
              </a:schemeClr>
            </a:lnRef>
            <a:fillRef idx="1">
              <a:schemeClr val="accent2"/>
            </a:fillRef>
            <a:effectRef idx="0">
              <a:schemeClr val="accent2"/>
            </a:effectRef>
            <a:fontRef idx="minor">
              <a:schemeClr val="lt1"/>
            </a:fontRef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cs-CZ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3" name="TextovéPole 2">
              <a:extLst>
                <a:ext uri="{FF2B5EF4-FFF2-40B4-BE49-F238E27FC236}">
                  <a16:creationId xmlns:a16="http://schemas.microsoft.com/office/drawing/2014/main" id="{8B3F3486-1830-DA41-B540-2B30403A1A71}"/>
                </a:ext>
              </a:extLst>
            </p:cNvPr>
            <p:cNvSpPr txBox="1"/>
            <p:nvPr/>
          </p:nvSpPr>
          <p:spPr>
            <a:xfrm>
              <a:off x="5385053" y="5038970"/>
              <a:ext cx="2391037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cs-CZ" sz="1800" b="0" i="0" u="none" strike="noStrike" cap="none" spc="0" normalizeH="0" baseline="0" dirty="0">
                  <a:ln>
                    <a:noFill/>
                  </a:ln>
                  <a:solidFill>
                    <a:schemeClr val="bg1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Strom komponent UI</a:t>
              </a:r>
            </a:p>
          </p:txBody>
        </p:sp>
      </p:grpSp>
      <p:sp>
        <p:nvSpPr>
          <p:cNvPr id="7" name="TextovéPole 6">
            <a:extLst>
              <a:ext uri="{FF2B5EF4-FFF2-40B4-BE49-F238E27FC236}">
                <a16:creationId xmlns:a16="http://schemas.microsoft.com/office/drawing/2014/main" id="{2F40798F-454E-274B-8A99-82782B0C6BD7}"/>
              </a:ext>
            </a:extLst>
          </p:cNvPr>
          <p:cNvSpPr txBox="1"/>
          <p:nvPr/>
        </p:nvSpPr>
        <p:spPr>
          <a:xfrm>
            <a:off x="2054268" y="2492679"/>
            <a:ext cx="8993688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Nativní projekt může obsahovat jeden či více *.</a:t>
            </a:r>
            <a:r>
              <a:rPr kumimoji="0" lang="cs-CZ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storyboard</a:t>
            </a: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souborů s definicí UI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cs-CZ" dirty="0"/>
              <a:t>Každá dílčí obrazovka je sestavena z UI komponent (ty zobrazuje strom </a:t>
            </a:r>
            <a:r>
              <a:rPr lang="cs-CZ" dirty="0" err="1"/>
              <a:t>view</a:t>
            </a:r>
            <a:r>
              <a:rPr lang="cs-CZ" dirty="0"/>
              <a:t> objektů)</a:t>
            </a:r>
          </a:p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cs-CZ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6ECF3653-6E3F-D744-B565-C5E07898E581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65644093"/>
      </p:ext>
    </p:extLst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3.4 Návrh uživatelského rozhraní III.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42684" y="6242952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20</a:t>
            </a:fld>
            <a:endParaRPr dirty="0"/>
          </a:p>
        </p:txBody>
      </p:sp>
      <p:sp>
        <p:nvSpPr>
          <p:cNvPr id="7" name="TextovéPole 6">
            <a:extLst>
              <a:ext uri="{FF2B5EF4-FFF2-40B4-BE49-F238E27FC236}">
                <a16:creationId xmlns:a16="http://schemas.microsoft.com/office/drawing/2014/main" id="{2F40798F-454E-274B-8A99-82782B0C6BD7}"/>
              </a:ext>
            </a:extLst>
          </p:cNvPr>
          <p:cNvSpPr txBox="1"/>
          <p:nvPr/>
        </p:nvSpPr>
        <p:spPr>
          <a:xfrm>
            <a:off x="2054268" y="2492679"/>
            <a:ext cx="3088046" cy="1754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Tlačítko + v pravém horním rohu </a:t>
            </a:r>
            <a:r>
              <a:rPr kumimoji="0" lang="cs-CZ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Xcode</a:t>
            </a: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otevírá paletu </a:t>
            </a:r>
            <a:r>
              <a:rPr kumimoji="0" lang="cs-CZ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view</a:t>
            </a: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objekt prvků pro vložení na scénu (obrazovku) mobilní aplikace</a:t>
            </a:r>
          </a:p>
        </p:txBody>
      </p:sp>
      <p:pic>
        <p:nvPicPr>
          <p:cNvPr id="5" name="Obrázek 4">
            <a:extLst>
              <a:ext uri="{FF2B5EF4-FFF2-40B4-BE49-F238E27FC236}">
                <a16:creationId xmlns:a16="http://schemas.microsoft.com/office/drawing/2014/main" id="{0F387F96-8CEA-9442-939B-7F601E6762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04137" y="2183955"/>
            <a:ext cx="5589365" cy="3945925"/>
          </a:xfrm>
          <a:prstGeom prst="rect">
            <a:avLst/>
          </a:prstGeom>
        </p:spPr>
      </p:pic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7D4BD26F-3456-0C40-9A39-6D7A7AE135F5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7242687"/>
      </p:ext>
    </p:extLst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rázek 3">
            <a:extLst>
              <a:ext uri="{FF2B5EF4-FFF2-40B4-BE49-F238E27FC236}">
                <a16:creationId xmlns:a16="http://schemas.microsoft.com/office/drawing/2014/main" id="{70F1157F-E2D4-FC4E-9F9A-3B53AC6CF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232" y="3348321"/>
            <a:ext cx="9073535" cy="1210440"/>
          </a:xfrm>
          <a:prstGeom prst="rect">
            <a:avLst/>
          </a:prstGeom>
        </p:spPr>
      </p:pic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3.4 Návrh uživatelského rozhraní IV.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21</a:t>
            </a:fld>
            <a:endParaRPr dirty="0"/>
          </a:p>
        </p:txBody>
      </p:sp>
      <p:sp>
        <p:nvSpPr>
          <p:cNvPr id="6" name="Šipka vpravo 5">
            <a:extLst>
              <a:ext uri="{FF2B5EF4-FFF2-40B4-BE49-F238E27FC236}">
                <a16:creationId xmlns:a16="http://schemas.microsoft.com/office/drawing/2014/main" id="{C81E092E-9E04-6D4C-B85F-61C1CCE41D16}"/>
              </a:ext>
            </a:extLst>
          </p:cNvPr>
          <p:cNvSpPr/>
          <p:nvPr/>
        </p:nvSpPr>
        <p:spPr>
          <a:xfrm>
            <a:off x="1347234" y="3637982"/>
            <a:ext cx="576943" cy="163286"/>
          </a:xfrm>
          <a:prstGeom prst="rightArrow">
            <a:avLst/>
          </a:prstGeom>
          <a:ln/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cs-CZ" sz="18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5" name="TextovéPole 4">
            <a:extLst>
              <a:ext uri="{FF2B5EF4-FFF2-40B4-BE49-F238E27FC236}">
                <a16:creationId xmlns:a16="http://schemas.microsoft.com/office/drawing/2014/main" id="{37ECB6CC-C16E-3243-9791-D3B5DB84C812}"/>
              </a:ext>
            </a:extLst>
          </p:cNvPr>
          <p:cNvSpPr txBox="1"/>
          <p:nvPr/>
        </p:nvSpPr>
        <p:spPr>
          <a:xfrm>
            <a:off x="1559232" y="2341314"/>
            <a:ext cx="7632778" cy="923328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Pod scénou </a:t>
            </a:r>
            <a:r>
              <a:rPr kumimoji="0" lang="cs-CZ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Storyboardu</a:t>
            </a: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lze nastavit náhled zobrazování na </a:t>
            </a:r>
            <a:r>
              <a:rPr lang="cs-CZ" dirty="0"/>
              <a:t>konkrétním typu zařízení, včetně jeho orientace (</a:t>
            </a:r>
            <a:r>
              <a:rPr lang="cs-CZ" dirty="0" err="1"/>
              <a:t>landscape</a:t>
            </a:r>
            <a:r>
              <a:rPr lang="cs-CZ" dirty="0"/>
              <a:t>, </a:t>
            </a:r>
            <a:r>
              <a:rPr lang="cs-CZ" dirty="0" err="1"/>
              <a:t>portrait</a:t>
            </a:r>
            <a:r>
              <a:rPr lang="cs-CZ" dirty="0"/>
              <a:t>), či stylu (</a:t>
            </a:r>
            <a:r>
              <a:rPr lang="cs-CZ" dirty="0" err="1"/>
              <a:t>light</a:t>
            </a:r>
            <a:r>
              <a:rPr lang="cs-CZ" dirty="0"/>
              <a:t>, </a:t>
            </a:r>
            <a:r>
              <a:rPr lang="cs-CZ" dirty="0" err="1"/>
              <a:t>dark</a:t>
            </a:r>
            <a:r>
              <a:rPr lang="cs-CZ" dirty="0"/>
              <a:t> mode)</a:t>
            </a:r>
            <a:endParaRPr kumimoji="0" lang="cs-CZ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BCCA7305-5A88-114B-91A9-C4E434FEC578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21523537"/>
      </p:ext>
    </p:extLst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Obrázek 8">
            <a:extLst>
              <a:ext uri="{FF2B5EF4-FFF2-40B4-BE49-F238E27FC236}">
                <a16:creationId xmlns:a16="http://schemas.microsoft.com/office/drawing/2014/main" id="{74DE1339-ED59-7C45-89AD-35F94E95A0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74743" y="2193306"/>
            <a:ext cx="7101778" cy="2692046"/>
          </a:xfrm>
          <a:prstGeom prst="rect">
            <a:avLst/>
          </a:prstGeom>
        </p:spPr>
      </p:pic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3.5 Praktický návrh </a:t>
            </a:r>
            <a:r>
              <a:rPr lang="cs-CZ" dirty="0" err="1"/>
              <a:t>storyboardu</a:t>
            </a:r>
            <a:r>
              <a:rPr lang="cs-CZ" dirty="0"/>
              <a:t> I.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22</a:t>
            </a:fld>
            <a:endParaRPr dirty="0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F195B96E-ED29-9C48-B20C-B4C84D2785BB}"/>
              </a:ext>
            </a:extLst>
          </p:cNvPr>
          <p:cNvSpPr txBox="1"/>
          <p:nvPr/>
        </p:nvSpPr>
        <p:spPr>
          <a:xfrm>
            <a:off x="568236" y="2467281"/>
            <a:ext cx="2823848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1. Výběr </a:t>
            </a:r>
            <a:r>
              <a:rPr kumimoji="0" lang="cs-CZ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storyboard</a:t>
            </a: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souboru</a:t>
            </a:r>
          </a:p>
        </p:txBody>
      </p:sp>
      <p:cxnSp>
        <p:nvCxnSpPr>
          <p:cNvPr id="5" name="Přímá spojovací šipka 4">
            <a:extLst>
              <a:ext uri="{FF2B5EF4-FFF2-40B4-BE49-F238E27FC236}">
                <a16:creationId xmlns:a16="http://schemas.microsoft.com/office/drawing/2014/main" id="{D41C10A5-DEC9-F741-B096-FA9283139D0B}"/>
              </a:ext>
            </a:extLst>
          </p:cNvPr>
          <p:cNvCxnSpPr>
            <a:cxnSpLocks/>
            <a:stCxn id="3" idx="3"/>
          </p:cNvCxnSpPr>
          <p:nvPr/>
        </p:nvCxnSpPr>
        <p:spPr>
          <a:xfrm>
            <a:off x="3392084" y="2651946"/>
            <a:ext cx="537965" cy="626333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9" name="TextovéPole 18">
            <a:extLst>
              <a:ext uri="{FF2B5EF4-FFF2-40B4-BE49-F238E27FC236}">
                <a16:creationId xmlns:a16="http://schemas.microsoft.com/office/drawing/2014/main" id="{1C3F5220-2661-494D-810D-E15A8EE841C2}"/>
              </a:ext>
            </a:extLst>
          </p:cNvPr>
          <p:cNvSpPr txBox="1"/>
          <p:nvPr/>
        </p:nvSpPr>
        <p:spPr>
          <a:xfrm>
            <a:off x="825517" y="3702814"/>
            <a:ext cx="2341345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2. </a:t>
            </a:r>
            <a:r>
              <a:rPr lang="cs-CZ" dirty="0"/>
              <a:t>Přehled </a:t>
            </a:r>
            <a:r>
              <a:rPr lang="cs-CZ" dirty="0" err="1"/>
              <a:t>view</a:t>
            </a:r>
            <a:r>
              <a:rPr lang="cs-CZ" dirty="0"/>
              <a:t> objektů</a:t>
            </a:r>
            <a:br>
              <a:rPr lang="cs-CZ" dirty="0"/>
            </a:br>
            <a:r>
              <a:rPr lang="cs-CZ" dirty="0"/>
              <a:t>dané scény</a:t>
            </a:r>
            <a:endParaRPr kumimoji="0" lang="cs-CZ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cxnSp>
        <p:nvCxnSpPr>
          <p:cNvPr id="20" name="Přímá spojovací šipka 19">
            <a:extLst>
              <a:ext uri="{FF2B5EF4-FFF2-40B4-BE49-F238E27FC236}">
                <a16:creationId xmlns:a16="http://schemas.microsoft.com/office/drawing/2014/main" id="{CDA4F856-C81E-8741-80E5-0022564CD8D7}"/>
              </a:ext>
            </a:extLst>
          </p:cNvPr>
          <p:cNvCxnSpPr>
            <a:cxnSpLocks/>
            <a:stCxn id="19" idx="3"/>
          </p:cNvCxnSpPr>
          <p:nvPr/>
        </p:nvCxnSpPr>
        <p:spPr>
          <a:xfrm flipV="1">
            <a:off x="3166862" y="2727401"/>
            <a:ext cx="2873296" cy="1298578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6" name="TextovéPole 25">
            <a:extLst>
              <a:ext uri="{FF2B5EF4-FFF2-40B4-BE49-F238E27FC236}">
                <a16:creationId xmlns:a16="http://schemas.microsoft.com/office/drawing/2014/main" id="{0A7C6482-72BB-0345-A5E1-25865A02033F}"/>
              </a:ext>
            </a:extLst>
          </p:cNvPr>
          <p:cNvSpPr txBox="1"/>
          <p:nvPr/>
        </p:nvSpPr>
        <p:spPr>
          <a:xfrm>
            <a:off x="825517" y="5180938"/>
            <a:ext cx="3070710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3. Otevření palety </a:t>
            </a:r>
            <a:r>
              <a:rPr kumimoji="0" lang="cs-CZ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view</a:t>
            </a: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objektů</a:t>
            </a:r>
          </a:p>
        </p:txBody>
      </p:sp>
      <p:pic>
        <p:nvPicPr>
          <p:cNvPr id="18" name="Obrázek 17">
            <a:extLst>
              <a:ext uri="{FF2B5EF4-FFF2-40B4-BE49-F238E27FC236}">
                <a16:creationId xmlns:a16="http://schemas.microsoft.com/office/drawing/2014/main" id="{245B0ED1-5176-9A41-845B-66C3242426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51284" y="5273974"/>
            <a:ext cx="2794000" cy="419100"/>
          </a:xfrm>
          <a:prstGeom prst="rect">
            <a:avLst/>
          </a:prstGeom>
        </p:spPr>
      </p:pic>
      <p:cxnSp>
        <p:nvCxnSpPr>
          <p:cNvPr id="28" name="Přímá spojovací šipka 27">
            <a:extLst>
              <a:ext uri="{FF2B5EF4-FFF2-40B4-BE49-F238E27FC236}">
                <a16:creationId xmlns:a16="http://schemas.microsoft.com/office/drawing/2014/main" id="{47236DFA-3B05-4843-90EC-4B1CD925A40E}"/>
              </a:ext>
            </a:extLst>
          </p:cNvPr>
          <p:cNvCxnSpPr>
            <a:cxnSpLocks/>
          </p:cNvCxnSpPr>
          <p:nvPr/>
        </p:nvCxnSpPr>
        <p:spPr>
          <a:xfrm>
            <a:off x="3930049" y="5365304"/>
            <a:ext cx="1438202" cy="99660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B1AA032D-BB7B-CA45-B2AC-CEE63BD227E6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500674629"/>
      </p:ext>
    </p:extLst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rázek 1">
            <a:extLst>
              <a:ext uri="{FF2B5EF4-FFF2-40B4-BE49-F238E27FC236}">
                <a16:creationId xmlns:a16="http://schemas.microsoft.com/office/drawing/2014/main" id="{B4FE3F7A-913C-2D41-B4F9-076D5E8E09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5157" y="2171210"/>
            <a:ext cx="4793353" cy="4291723"/>
          </a:xfrm>
          <a:prstGeom prst="rect">
            <a:avLst/>
          </a:prstGeom>
        </p:spPr>
      </p:pic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3.5 Praktický návrh </a:t>
            </a:r>
            <a:r>
              <a:rPr lang="cs-CZ" dirty="0" err="1"/>
              <a:t>storyboardu</a:t>
            </a:r>
            <a:r>
              <a:rPr lang="cs-CZ" dirty="0"/>
              <a:t> II.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23</a:t>
            </a:fld>
            <a:endParaRPr dirty="0"/>
          </a:p>
        </p:txBody>
      </p:sp>
      <p:sp>
        <p:nvSpPr>
          <p:cNvPr id="3" name="TextovéPole 2">
            <a:extLst>
              <a:ext uri="{FF2B5EF4-FFF2-40B4-BE49-F238E27FC236}">
                <a16:creationId xmlns:a16="http://schemas.microsoft.com/office/drawing/2014/main" id="{F195B96E-ED29-9C48-B20C-B4C84D2785BB}"/>
              </a:ext>
            </a:extLst>
          </p:cNvPr>
          <p:cNvSpPr txBox="1"/>
          <p:nvPr/>
        </p:nvSpPr>
        <p:spPr>
          <a:xfrm>
            <a:off x="1753643" y="2668045"/>
            <a:ext cx="3482235" cy="1200327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285750" marR="0" indent="-285750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Přidání nového prvku na scénu probíhá </a:t>
            </a:r>
            <a:r>
              <a:rPr kumimoji="0" lang="cs-CZ" sz="1800" b="0" i="0" u="none" strike="noStrike" cap="none" spc="0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drag</a:t>
            </a: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 and drop způsobem – přetažením z palety nástrojů na plátno scény</a:t>
            </a:r>
          </a:p>
        </p:txBody>
      </p:sp>
      <p:cxnSp>
        <p:nvCxnSpPr>
          <p:cNvPr id="5" name="Přímá spojovací šipka 4">
            <a:extLst>
              <a:ext uri="{FF2B5EF4-FFF2-40B4-BE49-F238E27FC236}">
                <a16:creationId xmlns:a16="http://schemas.microsoft.com/office/drawing/2014/main" id="{D41C10A5-DEC9-F741-B096-FA9283139D0B}"/>
              </a:ext>
            </a:extLst>
          </p:cNvPr>
          <p:cNvCxnSpPr>
            <a:cxnSpLocks/>
          </p:cNvCxnSpPr>
          <p:nvPr/>
        </p:nvCxnSpPr>
        <p:spPr>
          <a:xfrm flipH="1" flipV="1">
            <a:off x="7256206" y="3702814"/>
            <a:ext cx="1288068" cy="299935"/>
          </a:xfrm>
          <a:prstGeom prst="straightConnector1">
            <a:avLst/>
          </a:prstGeom>
          <a:noFill/>
          <a:ln w="25400" cap="flat">
            <a:solidFill>
              <a:schemeClr val="accent1"/>
            </a:solidFill>
            <a:prstDash val="solid"/>
            <a:round/>
            <a:tailEnd type="triangle"/>
          </a:ln>
          <a:effectLst>
            <a:outerShdw blurRad="38100" dist="20000" dir="5400000" rotWithShape="0">
              <a:srgbClr val="000000">
                <a:alpha val="38000"/>
              </a:srgbClr>
            </a:outerShdw>
          </a:effectLst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Footer Placeholder 3">
            <a:extLst>
              <a:ext uri="{FF2B5EF4-FFF2-40B4-BE49-F238E27FC236}">
                <a16:creationId xmlns:a16="http://schemas.microsoft.com/office/drawing/2014/main" id="{6E183C5D-0A70-4440-9F4E-92E6B0B7705B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25408401"/>
      </p:ext>
    </p:extLst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3.5 Praktický návrh </a:t>
            </a:r>
            <a:r>
              <a:rPr lang="cs-CZ" dirty="0" err="1"/>
              <a:t>storyboardu</a:t>
            </a:r>
            <a:r>
              <a:rPr lang="cs-CZ" dirty="0"/>
              <a:t> III.</a:t>
            </a:r>
            <a:endParaRPr dirty="0"/>
          </a:p>
        </p:txBody>
      </p:sp>
      <p:sp>
        <p:nvSpPr>
          <p:cNvPr id="12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48880"/>
            <a:ext cx="8995896" cy="78094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marL="285750" indent="-285750" algn="l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Každá scéna (</a:t>
            </a:r>
            <a:r>
              <a:rPr lang="cs-CZ" sz="1800" dirty="0" err="1">
                <a:sym typeface="Source Sans Pro Semibold"/>
              </a:rPr>
              <a:t>view</a:t>
            </a:r>
            <a:r>
              <a:rPr lang="cs-CZ" sz="1800" dirty="0">
                <a:sym typeface="Source Sans Pro Semibold"/>
              </a:rPr>
              <a:t>) na </a:t>
            </a:r>
            <a:r>
              <a:rPr lang="cs-CZ" sz="1800" dirty="0" err="1">
                <a:sym typeface="Source Sans Pro Semibold"/>
              </a:rPr>
              <a:t>storyboardu</a:t>
            </a:r>
            <a:r>
              <a:rPr lang="cs-CZ" sz="1800" dirty="0">
                <a:sym typeface="Source Sans Pro Semibold"/>
              </a:rPr>
              <a:t> by měla být propojena se svou aplikační logikou (</a:t>
            </a:r>
            <a:r>
              <a:rPr lang="cs-CZ" sz="1800" dirty="0" err="1">
                <a:sym typeface="Source Sans Pro Semibold"/>
              </a:rPr>
              <a:t>ViewController</a:t>
            </a:r>
            <a:r>
              <a:rPr lang="cs-CZ" sz="1800" dirty="0">
                <a:sym typeface="Source Sans Pro Semibold"/>
              </a:rPr>
              <a:t>)</a:t>
            </a:r>
          </a:p>
          <a:p>
            <a:pPr marL="285750" indent="-285750" algn="l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Ta je programována ve </a:t>
            </a:r>
            <a:r>
              <a:rPr lang="cs-CZ" sz="1800" dirty="0" err="1">
                <a:sym typeface="Source Sans Pro Semibold"/>
              </a:rPr>
              <a:t>Swiftu</a:t>
            </a:r>
            <a:r>
              <a:rPr lang="cs-CZ" sz="1800" dirty="0">
                <a:sym typeface="Source Sans Pro Semibold"/>
              </a:rPr>
              <a:t> (případně </a:t>
            </a:r>
            <a:r>
              <a:rPr lang="cs-CZ" sz="1800" dirty="0" err="1">
                <a:sym typeface="Source Sans Pro Semibold"/>
              </a:rPr>
              <a:t>Objective</a:t>
            </a:r>
            <a:r>
              <a:rPr lang="cs-CZ" sz="1800" dirty="0">
                <a:sym typeface="Source Sans Pro Semibold"/>
              </a:rPr>
              <a:t>-C)</a:t>
            </a:r>
          </a:p>
          <a:p>
            <a:pPr marL="285750" indent="-285750" algn="l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Třídu aplikační logiky lze propojit viz obrázek – pole </a:t>
            </a:r>
            <a:r>
              <a:rPr lang="cs-CZ" sz="1800" dirty="0" err="1">
                <a:sym typeface="Source Sans Pro Semibold"/>
              </a:rPr>
              <a:t>Class</a:t>
            </a:r>
            <a:endParaRPr lang="cs-CZ" sz="1800" dirty="0">
              <a:sym typeface="Source Sans Pro Semibold"/>
            </a:endParaRPr>
          </a:p>
          <a:p>
            <a:pPr marL="285750" indent="-285750" algn="l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24</a:t>
            </a:fld>
            <a:endParaRPr dirty="0"/>
          </a:p>
        </p:txBody>
      </p:sp>
      <p:grpSp>
        <p:nvGrpSpPr>
          <p:cNvPr id="4" name="Skupina 3">
            <a:extLst>
              <a:ext uri="{FF2B5EF4-FFF2-40B4-BE49-F238E27FC236}">
                <a16:creationId xmlns:a16="http://schemas.microsoft.com/office/drawing/2014/main" id="{7ED36F83-89E3-A748-B747-E6BF9BF9F092}"/>
              </a:ext>
            </a:extLst>
          </p:cNvPr>
          <p:cNvGrpSpPr/>
          <p:nvPr/>
        </p:nvGrpSpPr>
        <p:grpSpPr>
          <a:xfrm>
            <a:off x="1801147" y="3098528"/>
            <a:ext cx="9258300" cy="3031352"/>
            <a:chOff x="1801147" y="3098528"/>
            <a:chExt cx="9258300" cy="3031352"/>
          </a:xfrm>
        </p:grpSpPr>
        <p:pic>
          <p:nvPicPr>
            <p:cNvPr id="2" name="Obrázek 1">
              <a:extLst>
                <a:ext uri="{FF2B5EF4-FFF2-40B4-BE49-F238E27FC236}">
                  <a16:creationId xmlns:a16="http://schemas.microsoft.com/office/drawing/2014/main" id="{6F142632-17D3-194D-BCE5-A0AF86C7A83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801147" y="3221580"/>
              <a:ext cx="9258300" cy="2908300"/>
            </a:xfrm>
            <a:prstGeom prst="rect">
              <a:avLst/>
            </a:prstGeom>
          </p:spPr>
        </p:pic>
        <p:sp>
          <p:nvSpPr>
            <p:cNvPr id="5" name="TextovéPole 4">
              <a:extLst>
                <a:ext uri="{FF2B5EF4-FFF2-40B4-BE49-F238E27FC236}">
                  <a16:creationId xmlns:a16="http://schemas.microsoft.com/office/drawing/2014/main" id="{2AD4C3EC-15D7-EB4F-926E-C8F9E50D51AB}"/>
                </a:ext>
              </a:extLst>
            </p:cNvPr>
            <p:cNvSpPr txBox="1"/>
            <p:nvPr/>
          </p:nvSpPr>
          <p:spPr>
            <a:xfrm>
              <a:off x="4512949" y="4870867"/>
              <a:ext cx="2778964" cy="3693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non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cs-CZ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Název třídy </a:t>
              </a:r>
              <a:r>
                <a:rPr kumimoji="0" lang="cs-CZ" sz="1800" b="0" i="0" u="none" strike="noStrike" cap="none" spc="0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ViewControlleru</a:t>
              </a:r>
              <a:endPara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cxnSp>
          <p:nvCxnSpPr>
            <p:cNvPr id="7" name="Přímá spojovací šipka 6">
              <a:extLst>
                <a:ext uri="{FF2B5EF4-FFF2-40B4-BE49-F238E27FC236}">
                  <a16:creationId xmlns:a16="http://schemas.microsoft.com/office/drawing/2014/main" id="{2C0B93E1-2859-5440-9C4A-A2F5E2AB328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20252" y="4005994"/>
              <a:ext cx="2524021" cy="853579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3" name="Ovál 2">
              <a:extLst>
                <a:ext uri="{FF2B5EF4-FFF2-40B4-BE49-F238E27FC236}">
                  <a16:creationId xmlns:a16="http://schemas.microsoft.com/office/drawing/2014/main" id="{9610665D-DCFD-5642-9F0F-96FAF7BAAA40}"/>
                </a:ext>
              </a:extLst>
            </p:cNvPr>
            <p:cNvSpPr/>
            <p:nvPr/>
          </p:nvSpPr>
          <p:spPr>
            <a:xfrm>
              <a:off x="9250531" y="3098528"/>
              <a:ext cx="514905" cy="519348"/>
            </a:xfrm>
            <a:prstGeom prst="ellipse">
              <a:avLst/>
            </a:prstGeom>
            <a:noFill/>
            <a:ln w="57150" cap="flat">
              <a:solidFill>
                <a:schemeClr val="accent2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cs-CZ" sz="1800" b="0" i="0" u="none" strike="noStrike" cap="none" spc="0" normalizeH="0" baseline="0" dirty="0">
                <a:ln>
                  <a:noFill/>
                </a:ln>
                <a:solidFill>
                  <a:schemeClr val="bg1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4" name="Footer Placeholder 3">
            <a:extLst>
              <a:ext uri="{FF2B5EF4-FFF2-40B4-BE49-F238E27FC236}">
                <a16:creationId xmlns:a16="http://schemas.microsoft.com/office/drawing/2014/main" id="{8896FEF2-6825-694E-9712-7D43EE4272D3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033523573"/>
      </p:ext>
    </p:extLst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3.5 Praktický návrh </a:t>
            </a:r>
            <a:r>
              <a:rPr lang="cs-CZ" dirty="0" err="1"/>
              <a:t>storyboardu</a:t>
            </a:r>
            <a:r>
              <a:rPr lang="cs-CZ" dirty="0"/>
              <a:t> IV.</a:t>
            </a:r>
            <a:endParaRPr dirty="0"/>
          </a:p>
        </p:txBody>
      </p:sp>
      <p:sp>
        <p:nvSpPr>
          <p:cNvPr id="12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1" y="2348880"/>
            <a:ext cx="8995896" cy="780945"/>
          </a:xfrm>
          <a:prstGeom prst="rect">
            <a:avLst/>
          </a:prstGeom>
        </p:spPr>
        <p:txBody>
          <a:bodyPr>
            <a:normAutofit fontScale="85000" lnSpcReduction="20000"/>
          </a:bodyPr>
          <a:lstStyle/>
          <a:p>
            <a:pPr lvl="3" indent="0" algn="l">
              <a:spcBef>
                <a:spcPts val="400"/>
              </a:spcBef>
              <a:buSzPct val="100000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Zpravidla je třeba také propojit </a:t>
            </a:r>
            <a:r>
              <a:rPr lang="cs-CZ" sz="1800" dirty="0" err="1">
                <a:sym typeface="Source Sans Pro Semibold"/>
              </a:rPr>
              <a:t>view</a:t>
            </a:r>
            <a:r>
              <a:rPr lang="cs-CZ" sz="1800" dirty="0">
                <a:sym typeface="Source Sans Pro Semibold"/>
              </a:rPr>
              <a:t> objekty se zdrojovým kódem </a:t>
            </a:r>
            <a:r>
              <a:rPr lang="cs-CZ" sz="1800" dirty="0" err="1">
                <a:sym typeface="Source Sans Pro Semibold"/>
              </a:rPr>
              <a:t>ViewControllerů</a:t>
            </a:r>
            <a:endParaRPr lang="cs-CZ" sz="1800" dirty="0">
              <a:sym typeface="Source Sans Pro Semibold"/>
            </a:endParaRPr>
          </a:p>
          <a:p>
            <a:pPr marL="285750" lvl="3" indent="-285750" algn="l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Abychom mohli měnit propojený </a:t>
            </a:r>
            <a:r>
              <a:rPr lang="cs-CZ" sz="1800" dirty="0" err="1">
                <a:sym typeface="Source Sans Pro Semibold"/>
              </a:rPr>
              <a:t>view</a:t>
            </a:r>
            <a:r>
              <a:rPr lang="cs-CZ" sz="1800" dirty="0">
                <a:sym typeface="Source Sans Pro Semibold"/>
              </a:rPr>
              <a:t> objekt z kontextu aplikační logiky </a:t>
            </a:r>
            <a:r>
              <a:rPr lang="cs-CZ" sz="1800" dirty="0" err="1">
                <a:sym typeface="Source Sans Pro Semibold"/>
              </a:rPr>
              <a:t>ViewControlleru</a:t>
            </a:r>
            <a:endParaRPr lang="cs-CZ" sz="1800" dirty="0">
              <a:sym typeface="Source Sans Pro Semibold"/>
            </a:endParaRPr>
          </a:p>
          <a:p>
            <a:pPr marL="285750" indent="-285750" algn="l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Lze </a:t>
            </a:r>
            <a:r>
              <a:rPr lang="cs-CZ" sz="1800" dirty="0" err="1">
                <a:sym typeface="Source Sans Pro Semibold"/>
              </a:rPr>
              <a:t>propojt</a:t>
            </a:r>
            <a:r>
              <a:rPr lang="cs-CZ" sz="1800" dirty="0">
                <a:sym typeface="Source Sans Pro Semibold"/>
              </a:rPr>
              <a:t> pomocí tzv. </a:t>
            </a:r>
            <a:r>
              <a:rPr lang="cs-CZ" sz="1800" dirty="0" err="1">
                <a:sym typeface="Source Sans Pro Semibold"/>
              </a:rPr>
              <a:t>IBOutlet</a:t>
            </a:r>
            <a:r>
              <a:rPr lang="cs-CZ" sz="1800" dirty="0">
                <a:sym typeface="Source Sans Pro Semibold"/>
              </a:rPr>
              <a:t> (</a:t>
            </a:r>
            <a:r>
              <a:rPr lang="cs-CZ" sz="1800" dirty="0" err="1">
                <a:sym typeface="Source Sans Pro Semibold"/>
              </a:rPr>
              <a:t>outlet</a:t>
            </a:r>
            <a:r>
              <a:rPr lang="cs-CZ" sz="1800" dirty="0">
                <a:sym typeface="Source Sans Pro Semibold"/>
              </a:rPr>
              <a:t> </a:t>
            </a:r>
            <a:r>
              <a:rPr lang="cs-CZ" sz="1800" dirty="0" err="1">
                <a:sym typeface="Source Sans Pro Semibold"/>
              </a:rPr>
              <a:t>connection</a:t>
            </a:r>
            <a:r>
              <a:rPr lang="cs-CZ" sz="1800" dirty="0">
                <a:sym typeface="Source Sans Pro Semibold"/>
              </a:rPr>
              <a:t> to Interface </a:t>
            </a:r>
            <a:r>
              <a:rPr lang="cs-CZ" sz="1800" dirty="0" err="1">
                <a:sym typeface="Source Sans Pro Semibold"/>
              </a:rPr>
              <a:t>Builder</a:t>
            </a:r>
            <a:r>
              <a:rPr lang="cs-CZ" sz="1800" dirty="0">
                <a:sym typeface="Source Sans Pro Semibold"/>
              </a:rPr>
              <a:t> </a:t>
            </a:r>
            <a:r>
              <a:rPr lang="cs-CZ" sz="1800" dirty="0" err="1">
                <a:sym typeface="Source Sans Pro Semibold"/>
              </a:rPr>
              <a:t>object</a:t>
            </a:r>
            <a:r>
              <a:rPr lang="cs-CZ" sz="1800" dirty="0">
                <a:sym typeface="Source Sans Pro Semibold"/>
              </a:rPr>
              <a:t>)</a:t>
            </a:r>
          </a:p>
          <a:p>
            <a:pPr marL="285750" indent="-285750" algn="l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25</a:t>
            </a:fld>
            <a:endParaRPr dirty="0"/>
          </a:p>
        </p:txBody>
      </p:sp>
      <p:grpSp>
        <p:nvGrpSpPr>
          <p:cNvPr id="11" name="Skupina 10">
            <a:extLst>
              <a:ext uri="{FF2B5EF4-FFF2-40B4-BE49-F238E27FC236}">
                <a16:creationId xmlns:a16="http://schemas.microsoft.com/office/drawing/2014/main" id="{C91DFA9C-AF57-E34A-9EE2-3F04E4C4180A}"/>
              </a:ext>
            </a:extLst>
          </p:cNvPr>
          <p:cNvGrpSpPr/>
          <p:nvPr/>
        </p:nvGrpSpPr>
        <p:grpSpPr>
          <a:xfrm>
            <a:off x="1089334" y="3428999"/>
            <a:ext cx="7900821" cy="2532925"/>
            <a:chOff x="1089334" y="3206025"/>
            <a:chExt cx="7796227" cy="2755900"/>
          </a:xfrm>
        </p:grpSpPr>
        <p:pic>
          <p:nvPicPr>
            <p:cNvPr id="3" name="Obrázek 2">
              <a:extLst>
                <a:ext uri="{FF2B5EF4-FFF2-40B4-BE49-F238E27FC236}">
                  <a16:creationId xmlns:a16="http://schemas.microsoft.com/office/drawing/2014/main" id="{5EBC8608-CE90-0544-A3DB-0EA588E0F4A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63961" y="3206025"/>
              <a:ext cx="7721600" cy="2755900"/>
            </a:xfrm>
            <a:prstGeom prst="rect">
              <a:avLst/>
            </a:prstGeom>
          </p:spPr>
        </p:pic>
        <p:cxnSp>
          <p:nvCxnSpPr>
            <p:cNvPr id="6" name="Přímá spojovací šipka 5">
              <a:extLst>
                <a:ext uri="{FF2B5EF4-FFF2-40B4-BE49-F238E27FC236}">
                  <a16:creationId xmlns:a16="http://schemas.microsoft.com/office/drawing/2014/main" id="{7C1341C4-7749-8344-A181-E8493AC78D36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81056" y="4060192"/>
              <a:ext cx="1251751" cy="1047565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headEnd type="triangle"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  <p:sp>
          <p:nvSpPr>
            <p:cNvPr id="9" name="TextovéPole 8">
              <a:extLst>
                <a:ext uri="{FF2B5EF4-FFF2-40B4-BE49-F238E27FC236}">
                  <a16:creationId xmlns:a16="http://schemas.microsoft.com/office/drawing/2014/main" id="{43D14784-45A7-994A-8AE0-EAC15262CD20}"/>
                </a:ext>
              </a:extLst>
            </p:cNvPr>
            <p:cNvSpPr txBox="1"/>
            <p:nvPr/>
          </p:nvSpPr>
          <p:spPr>
            <a:xfrm>
              <a:off x="1089334" y="4147051"/>
              <a:ext cx="2318679" cy="70322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t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r>
                <a:rPr kumimoji="0" lang="cs-CZ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Propoj mezi </a:t>
              </a:r>
              <a:r>
                <a:rPr kumimoji="0" lang="cs-CZ" sz="1800" b="0" i="0" u="none" strike="noStrike" cap="none" spc="0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View</a:t>
              </a:r>
              <a:r>
                <a:rPr kumimoji="0" lang="cs-CZ" sz="1800" b="0" i="0" u="none" strike="noStrike" cap="none" spc="0" normalizeH="0" baseline="0" dirty="0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 a </a:t>
              </a:r>
              <a:r>
                <a:rPr kumimoji="0" lang="cs-CZ" sz="1800" b="0" i="0" u="none" strike="noStrike" cap="none" spc="0" normalizeH="0" baseline="0" dirty="0" err="1">
                  <a:ln>
                    <a:noFill/>
                  </a:ln>
                  <a:solidFill>
                    <a:srgbClr val="000000"/>
                  </a:solidFill>
                  <a:effectLst/>
                  <a:uFillTx/>
                  <a:latin typeface="Source sans Pro"/>
                  <a:ea typeface="Source sans Pro"/>
                  <a:cs typeface="Source sans Pro"/>
                  <a:sym typeface="Source sans Pro"/>
                </a:rPr>
                <a:t>Controller</a:t>
              </a:r>
              <a:endPara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0" name="Obdélník 9">
              <a:extLst>
                <a:ext uri="{FF2B5EF4-FFF2-40B4-BE49-F238E27FC236}">
                  <a16:creationId xmlns:a16="http://schemas.microsoft.com/office/drawing/2014/main" id="{F932142D-2D1D-CB42-ACCF-D6E3F9847956}"/>
                </a:ext>
              </a:extLst>
            </p:cNvPr>
            <p:cNvSpPr/>
            <p:nvPr/>
          </p:nvSpPr>
          <p:spPr>
            <a:xfrm>
              <a:off x="4513810" y="3782477"/>
              <a:ext cx="4030463" cy="381740"/>
            </a:xfrm>
            <a:prstGeom prst="rect">
              <a:avLst/>
            </a:prstGeom>
            <a:noFill/>
            <a:ln w="25400" cap="flat">
              <a:solidFill>
                <a:schemeClr val="accent2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cs-CZ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  <p:sp>
          <p:nvSpPr>
            <p:cNvPr id="18" name="Obdélník 17">
              <a:extLst>
                <a:ext uri="{FF2B5EF4-FFF2-40B4-BE49-F238E27FC236}">
                  <a16:creationId xmlns:a16="http://schemas.microsoft.com/office/drawing/2014/main" id="{9DD32FA7-DF5F-4E4D-9648-39530DD6567A}"/>
                </a:ext>
              </a:extLst>
            </p:cNvPr>
            <p:cNvSpPr/>
            <p:nvPr/>
          </p:nvSpPr>
          <p:spPr>
            <a:xfrm>
              <a:off x="4900475" y="5179554"/>
              <a:ext cx="3515557" cy="419914"/>
            </a:xfrm>
            <a:prstGeom prst="rect">
              <a:avLst/>
            </a:prstGeom>
            <a:noFill/>
            <a:ln w="25400" cap="flat">
              <a:solidFill>
                <a:schemeClr val="accent2"/>
              </a:solidFill>
              <a:prstDash val="solid"/>
              <a:round/>
            </a:ln>
            <a:effectLst>
              <a:outerShdw blurRad="38100" dist="23000" dir="5400000" rotWithShape="0">
                <a:srgbClr val="000000">
                  <a:alpha val="35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  <p:txBody>
            <a:bodyPr rot="0" spcFirstLastPara="1" vertOverflow="overflow" horzOverflow="overflow" vert="horz" wrap="square" lIns="45719" tIns="45719" rIns="45719" bIns="45719" numCol="1" spcCol="38100" rtlCol="0" anchor="ctr">
              <a:spAutoFit/>
            </a:bodyPr>
            <a:lstStyle/>
            <a:p>
              <a:pPr marL="0" marR="0" indent="0" algn="l" defTabSz="914400" rtl="0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endParaRPr kumimoji="0" lang="cs-CZ" sz="18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endParaRPr>
            </a:p>
          </p:txBody>
        </p:sp>
      </p:grpSp>
      <p:sp>
        <p:nvSpPr>
          <p:cNvPr id="13" name="TextovéPole 12">
            <a:extLst>
              <a:ext uri="{FF2B5EF4-FFF2-40B4-BE49-F238E27FC236}">
                <a16:creationId xmlns:a16="http://schemas.microsoft.com/office/drawing/2014/main" id="{B1E78F2B-F368-E246-AD8C-BDDCB060D10C}"/>
              </a:ext>
            </a:extLst>
          </p:cNvPr>
          <p:cNvSpPr txBox="1"/>
          <p:nvPr/>
        </p:nvSpPr>
        <p:spPr>
          <a:xfrm>
            <a:off x="8990155" y="3606018"/>
            <a:ext cx="2903967" cy="175432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t">
            <a:spAutoFit/>
          </a:bodyPr>
          <a:lstStyle/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cs-CZ" dirty="0"/>
              <a:t>Vytvoříme tzv. </a:t>
            </a:r>
            <a:r>
              <a:rPr lang="cs-CZ" dirty="0" err="1"/>
              <a:t>IBOutlet</a:t>
            </a:r>
            <a:r>
              <a:rPr lang="cs-CZ" dirty="0"/>
              <a:t> vlastnost v </a:t>
            </a:r>
            <a:r>
              <a:rPr lang="cs-CZ" dirty="0" err="1"/>
              <a:t>Controller</a:t>
            </a:r>
            <a:r>
              <a:rPr lang="cs-CZ" dirty="0"/>
              <a:t> </a:t>
            </a:r>
            <a:r>
              <a:rPr lang="cs-CZ" dirty="0" err="1"/>
              <a:t>tříde</a:t>
            </a:r>
            <a:endParaRPr kumimoji="0" lang="cs-CZ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  <a:p>
            <a:pPr marL="342900" marR="0" indent="-34290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</a:pPr>
            <a:r>
              <a:rPr lang="cs-CZ" dirty="0"/>
              <a:t>Skrze tuto vlastnost můžeme měnit </a:t>
            </a:r>
            <a:r>
              <a:rPr lang="cs-CZ" dirty="0" err="1"/>
              <a:t>View</a:t>
            </a:r>
            <a:r>
              <a:rPr lang="cs-CZ" dirty="0"/>
              <a:t> objekt za běhu</a:t>
            </a:r>
            <a:endParaRPr kumimoji="0" lang="cs-CZ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4" name="TextovéPole 13">
            <a:extLst>
              <a:ext uri="{FF2B5EF4-FFF2-40B4-BE49-F238E27FC236}">
                <a16:creationId xmlns:a16="http://schemas.microsoft.com/office/drawing/2014/main" id="{C4053F15-F1D4-9647-A15B-4D4778FED936}"/>
              </a:ext>
            </a:extLst>
          </p:cNvPr>
          <p:cNvSpPr txBox="1"/>
          <p:nvPr/>
        </p:nvSpPr>
        <p:spPr>
          <a:xfrm>
            <a:off x="4211041" y="3764994"/>
            <a:ext cx="26545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chemeClr val="accent2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1.</a:t>
            </a:r>
          </a:p>
        </p:txBody>
      </p:sp>
      <p:sp>
        <p:nvSpPr>
          <p:cNvPr id="22" name="TextovéPole 21">
            <a:extLst>
              <a:ext uri="{FF2B5EF4-FFF2-40B4-BE49-F238E27FC236}">
                <a16:creationId xmlns:a16="http://schemas.microsoft.com/office/drawing/2014/main" id="{15D1945E-E9E9-8D42-B397-48B159596157}"/>
              </a:ext>
            </a:extLst>
          </p:cNvPr>
          <p:cNvSpPr txBox="1"/>
          <p:nvPr/>
        </p:nvSpPr>
        <p:spPr>
          <a:xfrm>
            <a:off x="4530426" y="5227902"/>
            <a:ext cx="265455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chemeClr val="accent2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2.</a:t>
            </a:r>
          </a:p>
        </p:txBody>
      </p:sp>
      <p:sp>
        <p:nvSpPr>
          <p:cNvPr id="16" name="Footer Placeholder 3">
            <a:extLst>
              <a:ext uri="{FF2B5EF4-FFF2-40B4-BE49-F238E27FC236}">
                <a16:creationId xmlns:a16="http://schemas.microsoft.com/office/drawing/2014/main" id="{BEBB73BF-FC1F-8045-9A26-98B0DA05EA61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34782982"/>
      </p:ext>
    </p:extLst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1" y="1277619"/>
            <a:ext cx="8297701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3.5 Praktický návrh </a:t>
            </a:r>
            <a:r>
              <a:rPr lang="cs-CZ" dirty="0" err="1"/>
              <a:t>storyboardu</a:t>
            </a:r>
            <a:r>
              <a:rPr lang="cs-CZ" dirty="0"/>
              <a:t> VI.</a:t>
            </a:r>
            <a:endParaRPr dirty="0"/>
          </a:p>
        </p:txBody>
      </p:sp>
      <p:sp>
        <p:nvSpPr>
          <p:cNvPr id="12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0" y="2348879"/>
            <a:ext cx="9329951" cy="112805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342900" indent="-342900" algn="l">
              <a:spcBef>
                <a:spcPts val="400"/>
              </a:spcBef>
              <a:buSzPct val="100000"/>
              <a:buFont typeface="+mj-lt"/>
              <a:buAutoNum type="arabicPeriod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200" dirty="0">
                <a:sym typeface="Source Sans Pro Semibold"/>
              </a:rPr>
              <a:t>Otevřít tzv. </a:t>
            </a:r>
            <a:r>
              <a:rPr lang="cs-CZ" sz="1200" dirty="0" err="1">
                <a:sym typeface="Source Sans Pro Semibold"/>
              </a:rPr>
              <a:t>Assistant</a:t>
            </a:r>
            <a:r>
              <a:rPr lang="cs-CZ" sz="1200" dirty="0">
                <a:sym typeface="Source Sans Pro Semibold"/>
              </a:rPr>
              <a:t> Editor (jsme ve </a:t>
            </a:r>
            <a:r>
              <a:rPr lang="cs-CZ" sz="1200" dirty="0" err="1">
                <a:sym typeface="Source Sans Pro Semibold"/>
              </a:rPr>
              <a:t>Storyboardu</a:t>
            </a:r>
            <a:r>
              <a:rPr lang="cs-CZ" sz="1200" dirty="0">
                <a:sym typeface="Source Sans Pro Semibold"/>
              </a:rPr>
              <a:t>)</a:t>
            </a:r>
          </a:p>
          <a:p>
            <a:pPr marL="342900" indent="-342900" algn="l">
              <a:spcBef>
                <a:spcPts val="400"/>
              </a:spcBef>
              <a:buSzPct val="100000"/>
              <a:buFont typeface="+mj-lt"/>
              <a:buAutoNum type="arabicPeriod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200" dirty="0">
                <a:sym typeface="Source Sans Pro Semibold"/>
              </a:rPr>
              <a:t>Táhneme myší z vybraného </a:t>
            </a:r>
            <a:r>
              <a:rPr lang="cs-CZ" sz="1200" dirty="0" err="1">
                <a:sym typeface="Source Sans Pro Semibold"/>
              </a:rPr>
              <a:t>View</a:t>
            </a:r>
            <a:r>
              <a:rPr lang="cs-CZ" sz="1200" dirty="0">
                <a:sym typeface="Source Sans Pro Semibold"/>
              </a:rPr>
              <a:t> objektu (ze stromu objektů) a pustíme do zdrojového kódu </a:t>
            </a:r>
            <a:r>
              <a:rPr lang="cs-CZ" sz="1200" dirty="0" err="1">
                <a:sym typeface="Source Sans Pro Semibold"/>
              </a:rPr>
              <a:t>View</a:t>
            </a:r>
            <a:r>
              <a:rPr lang="cs-CZ" sz="1200" dirty="0">
                <a:sym typeface="Source Sans Pro Semibold"/>
              </a:rPr>
              <a:t> </a:t>
            </a:r>
            <a:r>
              <a:rPr lang="cs-CZ" sz="1200" dirty="0" err="1">
                <a:sym typeface="Source Sans Pro Semibold"/>
              </a:rPr>
              <a:t>Controlleru</a:t>
            </a:r>
            <a:r>
              <a:rPr lang="cs-CZ" sz="1200" dirty="0">
                <a:sym typeface="Source Sans Pro Semibold"/>
              </a:rPr>
              <a:t> pod definicí třídy (držíme </a:t>
            </a:r>
            <a:r>
              <a:rPr lang="cs-CZ" sz="1200" dirty="0" err="1">
                <a:sym typeface="Source Sans Pro Semibold"/>
              </a:rPr>
              <a:t>Control</a:t>
            </a:r>
            <a:r>
              <a:rPr lang="cs-CZ" sz="1200" dirty="0">
                <a:sym typeface="Source Sans Pro Semibold"/>
              </a:rPr>
              <a:t>) </a:t>
            </a:r>
          </a:p>
          <a:p>
            <a:pPr marL="342900" indent="-342900" algn="l">
              <a:spcBef>
                <a:spcPts val="400"/>
              </a:spcBef>
              <a:buSzPct val="100000"/>
              <a:buFont typeface="+mj-lt"/>
              <a:buAutoNum type="arabicPeriod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200" dirty="0">
                <a:sym typeface="Source Sans Pro Semibold"/>
              </a:rPr>
              <a:t>Vyplníme dialogové okno – pojmenujeme </a:t>
            </a:r>
            <a:r>
              <a:rPr lang="cs-CZ" sz="1200" dirty="0" err="1">
                <a:sym typeface="Source Sans Pro Semibold"/>
              </a:rPr>
              <a:t>IBOutlet</a:t>
            </a:r>
            <a:r>
              <a:rPr lang="cs-CZ" sz="1200" dirty="0">
                <a:sym typeface="Source Sans Pro Semibold"/>
              </a:rPr>
              <a:t> vlastnost</a:t>
            </a:r>
          </a:p>
          <a:p>
            <a:pPr marL="342900" indent="-342900" algn="l">
              <a:spcBef>
                <a:spcPts val="400"/>
              </a:spcBef>
              <a:buSzPct val="100000"/>
              <a:buFont typeface="+mj-lt"/>
              <a:buAutoNum type="arabicPeriod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200" dirty="0">
                <a:sym typeface="Source Sans Pro Semibold"/>
              </a:rPr>
              <a:t>Nová třídní vlastnost </a:t>
            </a:r>
            <a:r>
              <a:rPr lang="cs-CZ" sz="1200" dirty="0" err="1">
                <a:sym typeface="Source Sans Pro Semibold"/>
              </a:rPr>
              <a:t>IBOutlet</a:t>
            </a:r>
            <a:r>
              <a:rPr lang="cs-CZ" sz="1200" dirty="0">
                <a:sym typeface="Source Sans Pro Semibold"/>
              </a:rPr>
              <a:t> je vytvořena a můžeme skrze ní přistupovat k </a:t>
            </a:r>
            <a:r>
              <a:rPr lang="cs-CZ" sz="1200" dirty="0" err="1">
                <a:sym typeface="Source Sans Pro Semibold"/>
              </a:rPr>
              <a:t>View</a:t>
            </a:r>
            <a:r>
              <a:rPr lang="cs-CZ" sz="1200" dirty="0">
                <a:sym typeface="Source Sans Pro Semibold"/>
              </a:rPr>
              <a:t> objektu</a:t>
            </a:r>
            <a:endParaRPr sz="1200"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26</a:t>
            </a:fld>
            <a:endParaRPr dirty="0"/>
          </a:p>
        </p:txBody>
      </p:sp>
      <p:grpSp>
        <p:nvGrpSpPr>
          <p:cNvPr id="2" name="Skupina 1">
            <a:extLst>
              <a:ext uri="{FF2B5EF4-FFF2-40B4-BE49-F238E27FC236}">
                <a16:creationId xmlns:a16="http://schemas.microsoft.com/office/drawing/2014/main" id="{0731D08F-7CC3-7C4A-9B58-AEB2A8C4C229}"/>
              </a:ext>
            </a:extLst>
          </p:cNvPr>
          <p:cNvGrpSpPr/>
          <p:nvPr/>
        </p:nvGrpSpPr>
        <p:grpSpPr>
          <a:xfrm>
            <a:off x="2916248" y="3476933"/>
            <a:ext cx="7655648" cy="2652947"/>
            <a:chOff x="2239195" y="3192973"/>
            <a:chExt cx="8220423" cy="2848661"/>
          </a:xfrm>
        </p:grpSpPr>
        <p:pic>
          <p:nvPicPr>
            <p:cNvPr id="4" name="Obrázek 3">
              <a:extLst>
                <a:ext uri="{FF2B5EF4-FFF2-40B4-BE49-F238E27FC236}">
                  <a16:creationId xmlns:a16="http://schemas.microsoft.com/office/drawing/2014/main" id="{46F938E4-9BA6-1E4C-AB62-7243681DB99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239195" y="3192973"/>
              <a:ext cx="8220423" cy="2848661"/>
            </a:xfrm>
            <a:prstGeom prst="rect">
              <a:avLst/>
            </a:prstGeom>
          </p:spPr>
        </p:pic>
        <p:cxnSp>
          <p:nvCxnSpPr>
            <p:cNvPr id="8" name="Přímá spojovací šipka 7">
              <a:extLst>
                <a:ext uri="{FF2B5EF4-FFF2-40B4-BE49-F238E27FC236}">
                  <a16:creationId xmlns:a16="http://schemas.microsoft.com/office/drawing/2014/main" id="{D10C116F-B273-AE45-A5DA-304801C79394}"/>
                </a:ext>
              </a:extLst>
            </p:cNvPr>
            <p:cNvCxnSpPr>
              <a:cxnSpLocks/>
            </p:cNvCxnSpPr>
            <p:nvPr/>
          </p:nvCxnSpPr>
          <p:spPr>
            <a:xfrm>
              <a:off x="3653647" y="3976746"/>
              <a:ext cx="3932656" cy="1160206"/>
            </a:xfrm>
            <a:prstGeom prst="straightConnector1">
              <a:avLst/>
            </a:prstGeom>
            <a:noFill/>
            <a:ln w="25400" cap="flat">
              <a:solidFill>
                <a:schemeClr val="accent1"/>
              </a:solidFill>
              <a:prstDash val="solid"/>
              <a:round/>
              <a:tailEnd type="triangle"/>
            </a:ln>
            <a:effectLst>
              <a:outerShdw blurRad="38100" dist="20000" dir="5400000" rotWithShape="0">
                <a:srgbClr val="000000">
                  <a:alpha val="38000"/>
                </a:srgbClr>
              </a:outerShdw>
            </a:effectLst>
            <a:sp3d/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none"/>
          </p:style>
        </p:cxnSp>
      </p:grpSp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F772E0A3-867A-2340-8910-C43D7BA94633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053785864"/>
      </p:ext>
    </p:extLst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Title 1"/>
          <p:cNvSpPr txBox="1">
            <a:spLocks noGrp="1"/>
          </p:cNvSpPr>
          <p:nvPr>
            <p:ph type="ctrTitle"/>
          </p:nvPr>
        </p:nvSpPr>
        <p:spPr>
          <a:xfrm>
            <a:off x="2244688" y="2693987"/>
            <a:ext cx="7702623" cy="1470026"/>
          </a:xfrm>
          <a:prstGeom prst="rect">
            <a:avLst/>
          </a:prstGeom>
        </p:spPr>
        <p:txBody>
          <a:bodyPr/>
          <a:lstStyle/>
          <a:p>
            <a:r>
              <a:rPr lang="cs-CZ" dirty="0"/>
              <a:t>4</a:t>
            </a:r>
            <a:r>
              <a:rPr dirty="0"/>
              <a:t>. </a:t>
            </a:r>
            <a:r>
              <a:rPr lang="cs-CZ" dirty="0" err="1"/>
              <a:t>Xcode</a:t>
            </a:r>
            <a:r>
              <a:rPr lang="cs-CZ" dirty="0"/>
              <a:t> </a:t>
            </a:r>
            <a:r>
              <a:rPr lang="cs-CZ" dirty="0" err="1"/>
              <a:t>Playground</a:t>
            </a:r>
            <a:endParaRPr dirty="0"/>
          </a:p>
        </p:txBody>
      </p:sp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25" name="Zástupný symbol pro číslo snímku 11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27</a:t>
            </a:fld>
            <a:endParaRPr/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B667A6F6-12F2-0344-BDC8-951133A415BF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83484493"/>
      </p:ext>
    </p:extLst>
  </p:cSld>
  <p:clrMapOvr>
    <a:masterClrMapping/>
  </p:clrMapOvr>
  <p:transition spd="med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4.1 </a:t>
            </a:r>
            <a:r>
              <a:rPr lang="cs-CZ" dirty="0" err="1"/>
              <a:t>Xcode</a:t>
            </a:r>
            <a:r>
              <a:rPr lang="cs-CZ" dirty="0"/>
              <a:t> </a:t>
            </a:r>
            <a:r>
              <a:rPr lang="cs-CZ" dirty="0" err="1"/>
              <a:t>Playground</a:t>
            </a:r>
            <a:endParaRPr dirty="0"/>
          </a:p>
        </p:txBody>
      </p:sp>
      <p:sp>
        <p:nvSpPr>
          <p:cNvPr id="12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0" y="2348880"/>
            <a:ext cx="4891886" cy="352839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S příchodem jazyka </a:t>
            </a:r>
            <a:r>
              <a:rPr lang="cs-CZ" sz="1800" dirty="0" err="1">
                <a:sym typeface="Source Sans Pro Semibold"/>
              </a:rPr>
              <a:t>Swift</a:t>
            </a:r>
            <a:r>
              <a:rPr lang="cs-CZ" sz="1800" dirty="0">
                <a:sym typeface="Source Sans Pro Semibold"/>
              </a:rPr>
              <a:t> představil Apple v roce 2014 prostředí </a:t>
            </a:r>
            <a:r>
              <a:rPr lang="cs-CZ" sz="1800" dirty="0" err="1">
                <a:sym typeface="Source Sans Pro Semibold"/>
              </a:rPr>
              <a:t>Xcode</a:t>
            </a:r>
            <a:r>
              <a:rPr lang="cs-CZ" sz="1800" dirty="0">
                <a:sym typeface="Source Sans Pro Semibold"/>
              </a:rPr>
              <a:t> </a:t>
            </a:r>
            <a:r>
              <a:rPr lang="cs-CZ" sz="1800" dirty="0" err="1">
                <a:sym typeface="Source Sans Pro Semibold"/>
              </a:rPr>
              <a:t>Plagrounds</a:t>
            </a:r>
            <a:r>
              <a:rPr lang="cs-CZ" sz="1800" dirty="0">
                <a:sym typeface="Source Sans Pro Semibold"/>
              </a:rPr>
              <a:t> [1]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Nejjednodušší cesta pro experimentování s nově představeným jazykem jazykem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800" dirty="0">
                <a:sym typeface="Source Sans Pro Semibold"/>
              </a:rPr>
              <a:t>Jde o interaktivní vývojové prostředí</a:t>
            </a:r>
            <a:endParaRPr lang="cs-CZ" dirty="0"/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dirty="0"/>
              <a:t>Umožňuje vidět výsledek kódu v reálném čase bez nutnosti sestavení a zobrazení v simulátoru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dirty="0"/>
              <a:t>Od prvotního představení je </a:t>
            </a:r>
            <a:r>
              <a:rPr lang="cs-CZ" dirty="0" err="1"/>
              <a:t>Playground</a:t>
            </a:r>
            <a:r>
              <a:rPr lang="cs-CZ" dirty="0"/>
              <a:t> soustavně vylepšován… je dostupná i aplikace pro iPad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dirty="0"/>
              <a:t>Používá se i v oblasti vzdělávání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/>
          <a:lstStyle/>
          <a:p>
            <a:fld id="{86CB4B4D-7CA3-9044-876B-883B54F8677D}" type="slidenum">
              <a:rPr/>
              <a:t>28</a:t>
            </a:fld>
            <a:endParaRPr dirty="0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815A86D8-D8A4-6C4B-8B2F-DAA2D242FED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35056" y="3080273"/>
            <a:ext cx="3429000" cy="1168400"/>
          </a:xfrm>
          <a:prstGeom prst="rect">
            <a:avLst/>
          </a:prstGeom>
        </p:spPr>
      </p:pic>
      <p:sp>
        <p:nvSpPr>
          <p:cNvPr id="13" name="Footer Placeholder 3">
            <a:extLst>
              <a:ext uri="{FF2B5EF4-FFF2-40B4-BE49-F238E27FC236}">
                <a16:creationId xmlns:a16="http://schemas.microsoft.com/office/drawing/2014/main" id="{01AB5409-8624-8147-9252-F52EF2AD14FD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476901188"/>
      </p:ext>
    </p:extLst>
  </p:cSld>
  <p:clrMapOvr>
    <a:masterClrMapping/>
  </p:clrMapOvr>
  <p:transition spd="med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4.1 </a:t>
            </a:r>
            <a:r>
              <a:rPr lang="cs-CZ" dirty="0" err="1"/>
              <a:t>Xcode</a:t>
            </a:r>
            <a:r>
              <a:rPr lang="cs-CZ" dirty="0"/>
              <a:t> </a:t>
            </a:r>
            <a:r>
              <a:rPr lang="cs-CZ" dirty="0" err="1"/>
              <a:t>Playground</a:t>
            </a:r>
            <a:r>
              <a:rPr lang="cs-CZ" dirty="0"/>
              <a:t> – verze </a:t>
            </a:r>
            <a:r>
              <a:rPr lang="cs-CZ" dirty="0" err="1"/>
              <a:t>App</a:t>
            </a:r>
            <a:endParaRPr dirty="0"/>
          </a:p>
        </p:txBody>
      </p:sp>
      <p:sp>
        <p:nvSpPr>
          <p:cNvPr id="129" name="Subtitle 2"/>
          <p:cNvSpPr txBox="1">
            <a:spLocks noGrp="1"/>
          </p:cNvSpPr>
          <p:nvPr>
            <p:ph type="subTitle" sz="half" idx="1"/>
          </p:nvPr>
        </p:nvSpPr>
        <p:spPr>
          <a:xfrm>
            <a:off x="2063550" y="2348881"/>
            <a:ext cx="3552159" cy="2943556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dirty="0"/>
              <a:t>Aplikace po iPad, mac OS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dirty="0"/>
              <a:t>Nabízí možnost jak se jednoduše učit programovat 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dirty="0"/>
              <a:t>Poskytuje průvodce učebním procesem 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dirty="0"/>
              <a:t>Motivace výzvou, splněním úkolu</a:t>
            </a:r>
          </a:p>
          <a:p>
            <a:pPr marL="285750" indent="-285750" algn="just">
              <a:spcBef>
                <a:spcPts val="400"/>
              </a:spcBef>
              <a:buSzPct val="100000"/>
              <a:buFont typeface="Courier New"/>
              <a:buChar char="o"/>
              <a:defRPr sz="1800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dirty="0"/>
              <a:t>Cílem je přitáhnout více lidí k programování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29</a:t>
            </a:fld>
            <a:endParaRPr dirty="0"/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28C6A03E-B79A-2A46-B2D5-C65A76F675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2145" y="2348880"/>
            <a:ext cx="5512282" cy="3528393"/>
          </a:xfrm>
          <a:prstGeom prst="rect">
            <a:avLst/>
          </a:prstGeom>
        </p:spPr>
      </p:pic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B7152AA5-7A50-094B-8134-49923AEDE3E5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56885835"/>
      </p:ext>
    </p:extLst>
  </p:cSld>
  <p:clrMapOvr>
    <a:masterClrMapping/>
  </p:clrMapOvr>
  <p:transition spd="med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Title 1"/>
          <p:cNvSpPr txBox="1">
            <a:spLocks noGrp="1"/>
          </p:cNvSpPr>
          <p:nvPr>
            <p:ph type="ctrTitle"/>
          </p:nvPr>
        </p:nvSpPr>
        <p:spPr>
          <a:xfrm>
            <a:off x="2036002" y="1277619"/>
            <a:ext cx="8182508" cy="100811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3200"/>
            </a:lvl1pPr>
          </a:lstStyle>
          <a:p>
            <a:r>
              <a:rPr lang="cs-CZ" dirty="0"/>
              <a:t>4.1 </a:t>
            </a:r>
            <a:r>
              <a:rPr lang="cs-CZ" dirty="0" err="1"/>
              <a:t>Xcode</a:t>
            </a:r>
            <a:r>
              <a:rPr lang="cs-CZ" dirty="0"/>
              <a:t> </a:t>
            </a:r>
            <a:r>
              <a:rPr lang="cs-CZ" dirty="0" err="1"/>
              <a:t>Playground</a:t>
            </a:r>
            <a:r>
              <a:rPr lang="cs-CZ" dirty="0"/>
              <a:t> - </a:t>
            </a:r>
            <a:r>
              <a:rPr lang="cs-CZ" dirty="0" err="1"/>
              <a:t>Xcode</a:t>
            </a:r>
            <a:endParaRPr dirty="0"/>
          </a:p>
        </p:txBody>
      </p:sp>
      <p:pic>
        <p:nvPicPr>
          <p:cNvPr id="13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  <p:pic>
        <p:nvPicPr>
          <p:cNvPr id="13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4273" y="6231656"/>
            <a:ext cx="235224" cy="235224"/>
          </a:xfrm>
          <a:prstGeom prst="rect">
            <a:avLst/>
          </a:prstGeom>
          <a:ln w="12700">
            <a:miter lim="400000"/>
          </a:ln>
        </p:spPr>
      </p:pic>
      <p:sp>
        <p:nvSpPr>
          <p:cNvPr id="132" name="Footer Placeholder 3"/>
          <p:cNvSpPr txBox="1"/>
          <p:nvPr/>
        </p:nvSpPr>
        <p:spPr>
          <a:xfrm>
            <a:off x="8760296" y="6221635"/>
            <a:ext cx="2016225" cy="256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>
            <a:lvl1pPr>
              <a:defRPr sz="1100">
                <a:solidFill>
                  <a:srgbClr val="FFFFFF"/>
                </a:solidFill>
                <a:latin typeface="Berlin CE"/>
                <a:ea typeface="Berlin CE"/>
                <a:cs typeface="Berlin CE"/>
                <a:sym typeface="Berlin CE"/>
              </a:defRPr>
            </a:lvl1pPr>
          </a:lstStyle>
          <a:p>
            <a:r>
              <a:t>fhs.utb.cz</a:t>
            </a:r>
          </a:p>
        </p:txBody>
      </p:sp>
      <p:sp>
        <p:nvSpPr>
          <p:cNvPr id="134" name="Zástupný symbol pro číslo snímku 5"/>
          <p:cNvSpPr txBox="1">
            <a:spLocks noGrp="1"/>
          </p:cNvSpPr>
          <p:nvPr>
            <p:ph type="sldNum" sz="quarter" idx="2"/>
          </p:nvPr>
        </p:nvSpPr>
        <p:spPr>
          <a:xfrm>
            <a:off x="11393502" y="6404294"/>
            <a:ext cx="188898" cy="26924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rPr/>
              <a:t>30</a:t>
            </a:fld>
            <a:endParaRPr dirty="0"/>
          </a:p>
        </p:txBody>
      </p:sp>
      <p:pic>
        <p:nvPicPr>
          <p:cNvPr id="4" name="Obrázek 3">
            <a:extLst>
              <a:ext uri="{FF2B5EF4-FFF2-40B4-BE49-F238E27FC236}">
                <a16:creationId xmlns:a16="http://schemas.microsoft.com/office/drawing/2014/main" id="{5945DD68-27F0-9844-9527-09B3CEAB5D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3612" y="2565673"/>
            <a:ext cx="11430365" cy="2568121"/>
          </a:xfrm>
          <a:prstGeom prst="rect">
            <a:avLst/>
          </a:prstGeom>
        </p:spPr>
      </p:pic>
      <p:sp>
        <p:nvSpPr>
          <p:cNvPr id="8" name="TextovéPole 7">
            <a:extLst>
              <a:ext uri="{FF2B5EF4-FFF2-40B4-BE49-F238E27FC236}">
                <a16:creationId xmlns:a16="http://schemas.microsoft.com/office/drawing/2014/main" id="{F356311F-220A-4649-906B-79F9841C7462}"/>
              </a:ext>
            </a:extLst>
          </p:cNvPr>
          <p:cNvSpPr txBox="1"/>
          <p:nvPr/>
        </p:nvSpPr>
        <p:spPr>
          <a:xfrm>
            <a:off x="433612" y="5262507"/>
            <a:ext cx="2498439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cs-CZ" dirty="0"/>
              <a:t>Tlačítko Play spouští kód</a:t>
            </a:r>
            <a:endParaRPr kumimoji="0" lang="cs-CZ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7" name="TextovéPole 16">
            <a:extLst>
              <a:ext uri="{FF2B5EF4-FFF2-40B4-BE49-F238E27FC236}">
                <a16:creationId xmlns:a16="http://schemas.microsoft.com/office/drawing/2014/main" id="{986EACC6-316A-F14B-9D73-7F144675B1E0}"/>
              </a:ext>
            </a:extLst>
          </p:cNvPr>
          <p:cNvSpPr txBox="1"/>
          <p:nvPr/>
        </p:nvSpPr>
        <p:spPr>
          <a:xfrm>
            <a:off x="7710009" y="5273242"/>
            <a:ext cx="3976408" cy="646329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r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  <a:t>Vpravo jsou v reálném čase zobrazovány</a:t>
            </a:r>
            <a:br>
              <a:rPr kumimoji="0" lang="cs-CZ" sz="1800" b="0" i="0" u="none" strike="noStrike" cap="none" spc="0" normalizeH="0" baseline="0" dirty="0">
                <a:ln>
                  <a:noFill/>
                </a:ln>
                <a:solidFill>
                  <a:srgbClr val="000000"/>
                </a:solidFill>
                <a:effectLst/>
                <a:uFillTx/>
                <a:latin typeface="Source sans Pro"/>
                <a:ea typeface="Source sans Pro"/>
                <a:cs typeface="Source sans Pro"/>
                <a:sym typeface="Source sans Pro"/>
              </a:rPr>
            </a:br>
            <a:r>
              <a:rPr lang="cs-CZ" dirty="0"/>
              <a:t>hodnoty a výstupy</a:t>
            </a:r>
            <a:endParaRPr kumimoji="0" lang="cs-CZ" sz="1800" b="0" i="0" u="none" strike="noStrike" cap="none" spc="0" normalizeH="0" baseline="0" dirty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2CB47A29-4BC6-9B40-8C11-C457B098F753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525296284"/>
      </p:ext>
    </p:extLst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artisticGlowEdges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07787" y="1463669"/>
            <a:ext cx="3456384" cy="345638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2276873"/>
            <a:ext cx="7772400" cy="1470025"/>
          </a:xfrm>
        </p:spPr>
        <p:txBody>
          <a:bodyPr/>
          <a:lstStyle/>
          <a:p>
            <a:r>
              <a:rPr lang="cs-CZ" dirty="0"/>
              <a:t>Děkuji za pozornost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55640" y="3356992"/>
            <a:ext cx="6400800" cy="1752600"/>
          </a:xfrm>
        </p:spPr>
        <p:txBody>
          <a:bodyPr>
            <a:normAutofit/>
          </a:bodyPr>
          <a:lstStyle/>
          <a:p>
            <a:r>
              <a:rPr lang="cs-CZ" sz="2800" i="1" dirty="0">
                <a:solidFill>
                  <a:schemeClr val="tx1"/>
                </a:solidFill>
              </a:rPr>
              <a:t>Dotazy?</a:t>
            </a:r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ACF089-6BD9-4FF9-8F05-3BF27D933551}" type="slidenum">
              <a:rPr lang="cs-CZ" smtClean="0"/>
              <a:pPr/>
              <a:t>31</a:t>
            </a:fld>
            <a:endParaRPr lang="cs-CZ"/>
          </a:p>
        </p:txBody>
      </p:sp>
      <p:sp>
        <p:nvSpPr>
          <p:cNvPr id="10" name="Footer Placeholder 3">
            <a:extLst>
              <a:ext uri="{FF2B5EF4-FFF2-40B4-BE49-F238E27FC236}">
                <a16:creationId xmlns:a16="http://schemas.microsoft.com/office/drawing/2014/main" id="{3870087C-6957-7A4F-BBBD-6BB1997E3BE5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pic>
        <p:nvPicPr>
          <p:cNvPr id="11" name="Picture 6" descr="Picture 6">
            <a:extLst>
              <a:ext uri="{FF2B5EF4-FFF2-40B4-BE49-F238E27FC236}">
                <a16:creationId xmlns:a16="http://schemas.microsoft.com/office/drawing/2014/main" id="{B3E600A8-E3BD-E64B-8AB9-27AECE9E9B0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174685189"/>
      </p:ext>
    </p:extLst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036002" y="1277620"/>
            <a:ext cx="8182507" cy="1008112"/>
          </a:xfrm>
        </p:spPr>
        <p:txBody>
          <a:bodyPr>
            <a:normAutofit/>
          </a:bodyPr>
          <a:lstStyle/>
          <a:p>
            <a:pPr algn="l"/>
            <a:r>
              <a:rPr lang="cs-CZ" sz="3200" dirty="0"/>
              <a:t>Reference I.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63552" y="2348880"/>
            <a:ext cx="8182506" cy="3650570"/>
          </a:xfrm>
        </p:spPr>
        <p:txBody>
          <a:bodyPr>
            <a:noAutofit/>
          </a:bodyPr>
          <a:lstStyle/>
          <a:p>
            <a:pPr marL="457200" indent="-457200" algn="l">
              <a:spcBef>
                <a:spcPts val="400"/>
              </a:spcBef>
              <a:buSzPct val="100000"/>
              <a:buFont typeface="+mj-lt"/>
              <a:buAutoNum type="arabicPeriod"/>
              <a:defRPr sz="2000" b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600" b="1" dirty="0" err="1">
                <a:sym typeface="Source Sans Pro Semibold"/>
              </a:rPr>
              <a:t>Introduction</a:t>
            </a:r>
            <a:r>
              <a:rPr lang="cs-CZ" sz="1600" b="1" dirty="0">
                <a:sym typeface="Source Sans Pro Semibold"/>
              </a:rPr>
              <a:t> to </a:t>
            </a:r>
            <a:r>
              <a:rPr lang="cs-CZ" sz="1600" b="1" dirty="0" err="1">
                <a:sym typeface="Source Sans Pro Semibold"/>
              </a:rPr>
              <a:t>Swift</a:t>
            </a:r>
            <a:r>
              <a:rPr lang="cs-CZ" sz="1600" b="1" dirty="0">
                <a:sym typeface="Source Sans Pro Semibold"/>
              </a:rPr>
              <a:t> </a:t>
            </a:r>
            <a:r>
              <a:rPr lang="cs-CZ" sz="1600" b="1" i="1" dirty="0" err="1">
                <a:sym typeface="Source Sans Pro Semibold"/>
              </a:rPr>
              <a:t>Introduction</a:t>
            </a:r>
            <a:r>
              <a:rPr lang="cs-CZ" sz="1600" b="1" i="1" dirty="0">
                <a:sym typeface="Source Sans Pro Semibold"/>
              </a:rPr>
              <a:t> and </a:t>
            </a:r>
            <a:r>
              <a:rPr lang="cs-CZ" sz="1600" b="1" i="1" dirty="0" err="1">
                <a:sym typeface="Source Sans Pro Semibold"/>
              </a:rPr>
              <a:t>history</a:t>
            </a:r>
            <a:r>
              <a:rPr lang="cs-CZ" sz="1600" b="1" i="1" dirty="0">
                <a:sym typeface="Source Sans Pro Semibold"/>
              </a:rPr>
              <a:t> </a:t>
            </a:r>
            <a:r>
              <a:rPr lang="cs-CZ" sz="1600" b="1" i="1" dirty="0" err="1">
                <a:sym typeface="Source Sans Pro Semibold"/>
              </a:rPr>
              <a:t>of</a:t>
            </a:r>
            <a:r>
              <a:rPr lang="cs-CZ" sz="1600" b="1" i="1" dirty="0">
                <a:sym typeface="Source Sans Pro Semibold"/>
              </a:rPr>
              <a:t> </a:t>
            </a:r>
            <a:r>
              <a:rPr lang="cs-CZ" sz="1600" b="1" i="1" dirty="0" err="1">
                <a:sym typeface="Source Sans Pro Semibold"/>
              </a:rPr>
              <a:t>Swift</a:t>
            </a:r>
            <a:r>
              <a:rPr lang="cs-CZ" sz="1600" b="1" i="1" dirty="0">
                <a:sym typeface="Source Sans Pro Semibold"/>
              </a:rPr>
              <a:t> up to 2020</a:t>
            </a:r>
            <a:r>
              <a:rPr lang="cs-CZ" sz="1600" b="1" dirty="0">
                <a:sym typeface="Source Sans Pro Semibold"/>
              </a:rPr>
              <a:t> [online]. Dostupné z: https://</a:t>
            </a:r>
            <a:r>
              <a:rPr lang="cs-CZ" sz="1600" b="1" dirty="0" err="1">
                <a:sym typeface="Source Sans Pro Semibold"/>
              </a:rPr>
              <a:t>exyte.com</a:t>
            </a:r>
            <a:r>
              <a:rPr lang="cs-CZ" sz="1600" b="1" dirty="0">
                <a:sym typeface="Source Sans Pro Semibold"/>
              </a:rPr>
              <a:t>/blog/</a:t>
            </a:r>
            <a:r>
              <a:rPr lang="cs-CZ" sz="1600" b="1" dirty="0" err="1">
                <a:sym typeface="Source Sans Pro Semibold"/>
              </a:rPr>
              <a:t>introduciton</a:t>
            </a:r>
            <a:r>
              <a:rPr lang="cs-CZ" sz="1600" b="1" dirty="0">
                <a:sym typeface="Source Sans Pro Semibold"/>
              </a:rPr>
              <a:t>-to-</a:t>
            </a:r>
            <a:r>
              <a:rPr lang="cs-CZ" sz="1600" b="1" dirty="0" err="1">
                <a:sym typeface="Source Sans Pro Semibold"/>
              </a:rPr>
              <a:t>swift</a:t>
            </a:r>
            <a:r>
              <a:rPr lang="cs-CZ" sz="1600" b="1" dirty="0">
                <a:sym typeface="Source Sans Pro Semibold"/>
              </a:rPr>
              <a:t> </a:t>
            </a:r>
          </a:p>
          <a:p>
            <a:pPr marL="457200" indent="-457200" algn="l">
              <a:spcBef>
                <a:spcPts val="400"/>
              </a:spcBef>
              <a:buSzPct val="100000"/>
              <a:buFont typeface="+mj-lt"/>
              <a:buAutoNum type="arabicPeriod"/>
              <a:defRPr sz="2000" b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r>
              <a:rPr lang="cs-CZ" sz="1600" b="1" dirty="0">
                <a:sym typeface="Source Sans Pro Semibold"/>
              </a:rPr>
              <a:t>INC., Apple. </a:t>
            </a:r>
            <a:r>
              <a:rPr lang="cs-CZ" sz="1600" b="1" dirty="0" err="1">
                <a:sym typeface="Source Sans Pro Semibold"/>
              </a:rPr>
              <a:t>Choosing</a:t>
            </a:r>
            <a:r>
              <a:rPr lang="cs-CZ" sz="1600" b="1" dirty="0">
                <a:sym typeface="Source Sans Pro Semibold"/>
              </a:rPr>
              <a:t> a </a:t>
            </a:r>
            <a:r>
              <a:rPr lang="cs-CZ" sz="1600" b="1" dirty="0" err="1">
                <a:sym typeface="Source Sans Pro Semibold"/>
              </a:rPr>
              <a:t>Membership</a:t>
            </a:r>
            <a:r>
              <a:rPr lang="cs-CZ" sz="1600" b="1" dirty="0">
                <a:sym typeface="Source Sans Pro Semibold"/>
              </a:rPr>
              <a:t> </a:t>
            </a:r>
            <a:r>
              <a:rPr lang="cs-CZ" sz="1600" b="1" dirty="0" err="1">
                <a:sym typeface="Source Sans Pro Semibold"/>
              </a:rPr>
              <a:t>Choosing</a:t>
            </a:r>
            <a:r>
              <a:rPr lang="cs-CZ" sz="1600" b="1" dirty="0">
                <a:sym typeface="Source Sans Pro Semibold"/>
              </a:rPr>
              <a:t> a </a:t>
            </a:r>
            <a:r>
              <a:rPr lang="cs-CZ" sz="1600" b="1" dirty="0" err="1">
                <a:sym typeface="Source Sans Pro Semibold"/>
              </a:rPr>
              <a:t>Membership</a:t>
            </a:r>
            <a:r>
              <a:rPr lang="cs-CZ" sz="1600" b="1" dirty="0">
                <a:sym typeface="Source Sans Pro Semibold"/>
              </a:rPr>
              <a:t> - Support - Apple Developer [online]. Dostupné z: https://</a:t>
            </a:r>
            <a:r>
              <a:rPr lang="cs-CZ" sz="1600" b="1" dirty="0" err="1">
                <a:sym typeface="Source Sans Pro Semibold"/>
              </a:rPr>
              <a:t>developer.apple.com</a:t>
            </a:r>
            <a:r>
              <a:rPr lang="cs-CZ" sz="1600" b="1" dirty="0">
                <a:sym typeface="Source Sans Pro Semibold"/>
              </a:rPr>
              <a:t>/support/</a:t>
            </a:r>
            <a:r>
              <a:rPr lang="cs-CZ" sz="1600" b="1" dirty="0" err="1">
                <a:sym typeface="Source Sans Pro Semibold"/>
              </a:rPr>
              <a:t>compare-memberships</a:t>
            </a:r>
            <a:r>
              <a:rPr lang="cs-CZ" sz="1600" b="1" dirty="0">
                <a:sym typeface="Source Sans Pro Semibold"/>
              </a:rPr>
              <a:t>/ </a:t>
            </a:r>
          </a:p>
          <a:p>
            <a:pPr algn="l">
              <a:spcBef>
                <a:spcPts val="400"/>
              </a:spcBef>
              <a:buSzPct val="100000"/>
              <a:defRPr sz="2000" b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endParaRPr lang="cs-CZ" sz="1600" b="1" dirty="0">
              <a:sym typeface="Source Sans Pro Semibold"/>
            </a:endParaRPr>
          </a:p>
          <a:p>
            <a:pPr marL="457200" indent="-457200" algn="l">
              <a:spcBef>
                <a:spcPts val="400"/>
              </a:spcBef>
              <a:buSzPct val="100000"/>
              <a:buFont typeface="+mj-lt"/>
              <a:buAutoNum type="arabicPeriod"/>
              <a:defRPr sz="2000" b="1">
                <a:solidFill>
                  <a:srgbClr val="000000"/>
                </a:solidFill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pPr>
            <a:endParaRPr lang="cs-CZ" sz="1600" b="1" dirty="0">
              <a:sym typeface="Source Sans Pro Semibold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44273" y="6231657"/>
            <a:ext cx="235223" cy="235223"/>
          </a:xfrm>
          <a:prstGeom prst="rect">
            <a:avLst/>
          </a:prstGeom>
        </p:spPr>
      </p:pic>
      <p:sp>
        <p:nvSpPr>
          <p:cNvPr id="9" name="Footer Placeholder 3"/>
          <p:cNvSpPr txBox="1">
            <a:spLocks/>
          </p:cNvSpPr>
          <p:nvPr/>
        </p:nvSpPr>
        <p:spPr>
          <a:xfrm>
            <a:off x="8760296" y="6097877"/>
            <a:ext cx="2016224" cy="504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cs-CZ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cs-CZ" sz="1100">
                <a:solidFill>
                  <a:schemeClr val="bg1"/>
                </a:solidFill>
                <a:latin typeface="Berlin CE" pitchFamily="2" charset="0"/>
              </a:rPr>
              <a:t>fhs.utb.cz</a:t>
            </a: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59896" y="6191850"/>
            <a:ext cx="1934718" cy="285663"/>
          </a:xfrm>
          <a:prstGeom prst="rect">
            <a:avLst/>
          </a:prstGeom>
        </p:spPr>
      </p:pic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cs-CZ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8ACF089-6BD9-4FF9-8F05-3BF27D933551}" type="slidenum">
              <a:rPr lang="cs-CZ" smtClean="0"/>
              <a:pPr/>
              <a:t>32</a:t>
            </a:fld>
            <a:endParaRPr lang="cs-CZ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06D2417D-26FA-5F49-89BF-17D761B0D1A7}"/>
              </a:ext>
            </a:extLst>
          </p:cNvPr>
          <p:cNvSpPr txBox="1"/>
          <p:nvPr/>
        </p:nvSpPr>
        <p:spPr>
          <a:xfrm>
            <a:off x="2408311" y="6134503"/>
            <a:ext cx="2319537" cy="4216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spAutoFit/>
          </a:bodyPr>
          <a:lstStyle/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Ing. Radek </a:t>
            </a:r>
            <a:r>
              <a:rPr dirty="0" err="1"/>
              <a:t>Vala</a:t>
            </a:r>
            <a:r>
              <a:rPr dirty="0"/>
              <a:t> Ph.D.</a:t>
            </a:r>
            <a:endParaRPr sz="1200" dirty="0">
              <a:solidFill>
                <a:srgbClr val="888888"/>
              </a:solidFill>
            </a:endParaRPr>
          </a:p>
          <a:p>
            <a:pPr>
              <a:defRPr sz="1100">
                <a:latin typeface="Berlin CE"/>
                <a:ea typeface="Berlin CE"/>
                <a:cs typeface="Berlin CE"/>
                <a:sym typeface="Berlin CE"/>
              </a:defRPr>
            </a:pPr>
            <a:r>
              <a:rPr dirty="0"/>
              <a:t>FAI, UTB </a:t>
            </a:r>
            <a:r>
              <a:rPr dirty="0" err="1"/>
              <a:t>ve</a:t>
            </a:r>
            <a:r>
              <a:rPr dirty="0"/>
              <a:t> </a:t>
            </a:r>
            <a:r>
              <a:rPr dirty="0" err="1"/>
              <a:t>Zlíně</a:t>
            </a:r>
            <a:endParaRPr dirty="0"/>
          </a:p>
        </p:txBody>
      </p:sp>
      <p:pic>
        <p:nvPicPr>
          <p:cNvPr id="13" name="Picture 6" descr="Picture 6">
            <a:extLst>
              <a:ext uri="{FF2B5EF4-FFF2-40B4-BE49-F238E27FC236}">
                <a16:creationId xmlns:a16="http://schemas.microsoft.com/office/drawing/2014/main" id="{0FB2231E-AC17-3C41-A71C-F806C3A74AB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5763" y="6231657"/>
            <a:ext cx="205822" cy="235224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498983704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38100" dist="200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blurRad="38100" dist="23000" dir="5400000" rotWithShape="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blurRad="38100" dist="20000" dir="5400000" rotWithShape="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2681</TotalTime>
  <Words>1720</Words>
  <Application>Microsoft Macintosh PowerPoint</Application>
  <PresentationFormat>Widescreen</PresentationFormat>
  <Paragraphs>274</Paragraphs>
  <Slides>32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Berlin CE</vt:lpstr>
      <vt:lpstr>Calibri</vt:lpstr>
      <vt:lpstr>Courier New</vt:lpstr>
      <vt:lpstr>Source sans Pro</vt:lpstr>
      <vt:lpstr>Source Sans Pro Bold</vt:lpstr>
      <vt:lpstr>Source Sans Pro Semibold</vt:lpstr>
      <vt:lpstr>Office Theme</vt:lpstr>
      <vt:lpstr>Pokročilé mobilní technologie</vt:lpstr>
      <vt:lpstr>1. Programovací jazyky pro iOS</vt:lpstr>
      <vt:lpstr>1.1 Jazyky pro programování iOS aplikací</vt:lpstr>
      <vt:lpstr>1.2 Jazyk Swift</vt:lpstr>
      <vt:lpstr>1.3 Objective-C vs Swift – porovnání kódu</vt:lpstr>
      <vt:lpstr>1.4 Objective-C - ukázka kódu I.</vt:lpstr>
      <vt:lpstr>1.4 Objective-C - ukázka kódu II.</vt:lpstr>
      <vt:lpstr>2.2 Vývojářský účet Apple ID</vt:lpstr>
      <vt:lpstr>2.3 Druhy vývojářských účtů</vt:lpstr>
      <vt:lpstr>2.4 Srovnání možnosti vývoje I.</vt:lpstr>
      <vt:lpstr>2.4 Srovnání možnosti vývoje II.</vt:lpstr>
      <vt:lpstr>3. Vývojový nástroj Xcode</vt:lpstr>
      <vt:lpstr>3.1 Tvorba nového projektu</vt:lpstr>
      <vt:lpstr>3.2 Nastavení projektu</vt:lpstr>
      <vt:lpstr>3.3 Přehled prostředí Xcode I.</vt:lpstr>
      <vt:lpstr>3.3 Přehled prostředí Xcode I.</vt:lpstr>
      <vt:lpstr>4. Xcode a Storyboards</vt:lpstr>
      <vt:lpstr>4.1 Návrh uživatelského rozhraní I.</vt:lpstr>
      <vt:lpstr>3.4 Návrh uživatelského rozhraní II.</vt:lpstr>
      <vt:lpstr>3.4 Návrh uživatelského rozhraní III.</vt:lpstr>
      <vt:lpstr>3.4 Návrh uživatelského rozhraní IV.</vt:lpstr>
      <vt:lpstr>3.5 Praktický návrh storyboardu I.</vt:lpstr>
      <vt:lpstr>3.5 Praktický návrh storyboardu II.</vt:lpstr>
      <vt:lpstr>3.5 Praktický návrh storyboardu III.</vt:lpstr>
      <vt:lpstr>3.5 Praktický návrh storyboardu IV.</vt:lpstr>
      <vt:lpstr>3.5 Praktický návrh storyboardu VI.</vt:lpstr>
      <vt:lpstr>4. Xcode Playground</vt:lpstr>
      <vt:lpstr>4.1 Xcode Playground</vt:lpstr>
      <vt:lpstr>4.1 Xcode Playground – verze App</vt:lpstr>
      <vt:lpstr>4.1 Xcode Playground - Xcode</vt:lpstr>
      <vt:lpstr>Děkuji za pozornost</vt:lpstr>
      <vt:lpstr>Reference I.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Mobilní technologie a kyberbezpečnost</dc:title>
  <dc:creator>Christie</dc:creator>
  <cp:lastModifiedBy>Radek Vala</cp:lastModifiedBy>
  <cp:revision>285</cp:revision>
  <dcterms:modified xsi:type="dcterms:W3CDTF">2025-10-23T13:54:24Z</dcterms:modified>
</cp:coreProperties>
</file>