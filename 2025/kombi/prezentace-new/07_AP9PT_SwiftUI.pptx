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32" r:id="rId2"/>
    <p:sldId id="290" r:id="rId3"/>
    <p:sldId id="291" r:id="rId4"/>
    <p:sldId id="345" r:id="rId5"/>
    <p:sldId id="257" r:id="rId6"/>
    <p:sldId id="286" r:id="rId7"/>
    <p:sldId id="344" r:id="rId8"/>
    <p:sldId id="346" r:id="rId9"/>
    <p:sldId id="343" r:id="rId10"/>
    <p:sldId id="354" r:id="rId11"/>
    <p:sldId id="355" r:id="rId12"/>
    <p:sldId id="356" r:id="rId13"/>
    <p:sldId id="358" r:id="rId14"/>
    <p:sldId id="359" r:id="rId15"/>
    <p:sldId id="360" r:id="rId16"/>
    <p:sldId id="361" r:id="rId17"/>
    <p:sldId id="362" r:id="rId18"/>
    <p:sldId id="363" r:id="rId19"/>
    <p:sldId id="364" r:id="rId20"/>
    <p:sldId id="365" r:id="rId21"/>
    <p:sldId id="366" r:id="rId22"/>
    <p:sldId id="357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ek Vala" initials="RV" lastIdx="10" clrIdx="0">
    <p:extLst>
      <p:ext uri="{19B8F6BF-5375-455C-9EA6-DF929625EA0E}">
        <p15:presenceInfo xmlns:p15="http://schemas.microsoft.com/office/powerpoint/2012/main" userId="S::vala@utb.cz::bb903c5a-e130-4e4a-8840-3b3abc620dd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3"/>
    <p:restoredTop sz="94844"/>
  </p:normalViewPr>
  <p:slideViewPr>
    <p:cSldViewPr snapToGrid="0">
      <p:cViewPr varScale="1">
        <p:scale>
          <a:sx n="86" d="100"/>
          <a:sy n="86" d="100"/>
        </p:scale>
        <p:origin x="1920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názvu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6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2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48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193368" y="1535112"/>
            <a:ext cx="5389034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58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názvu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Text názvu</a:t>
            </a:r>
          </a:p>
        </p:txBody>
      </p:sp>
      <p:sp>
        <p:nvSpPr>
          <p:cNvPr id="73" name="Text úrovně 1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4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609600" y="1435101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názvu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Text názvu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8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93" name="Text úrovně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9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názvu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02" name="Text úrovně 1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0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názvu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Text názvu</a:t>
            </a:r>
          </a:p>
        </p:txBody>
      </p:sp>
      <p:sp>
        <p:nvSpPr>
          <p:cNvPr id="3" name="Text úrovně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" name="Číslo snímku"/>
          <p:cNvSpPr txBox="1">
            <a:spLocks noGrp="1"/>
          </p:cNvSpPr>
          <p:nvPr>
            <p:ph type="sldNum" sz="quarter" idx="2"/>
          </p:nvPr>
        </p:nvSpPr>
        <p:spPr>
          <a:xfrm>
            <a:off x="11308744" y="6404294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113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87" y="1463668"/>
            <a:ext cx="3456385" cy="3456385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itle 1"/>
          <p:cNvSpPr txBox="1">
            <a:spLocks noGrp="1"/>
          </p:cNvSpPr>
          <p:nvPr>
            <p:ph type="ctrTitle"/>
          </p:nvPr>
        </p:nvSpPr>
        <p:spPr>
          <a:xfrm>
            <a:off x="2209800" y="2276873"/>
            <a:ext cx="7772400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Programování mobilních aplikací</a:t>
            </a:r>
          </a:p>
        </p:txBody>
      </p:sp>
      <p:sp>
        <p:nvSpPr>
          <p:cNvPr id="115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35579" y="3894587"/>
            <a:ext cx="6400801" cy="532974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cs-CZ" dirty="0"/>
              <a:t>iOS – </a:t>
            </a:r>
            <a:r>
              <a:rPr lang="cs-CZ" dirty="0" err="1"/>
              <a:t>SwiftUI</a:t>
            </a:r>
            <a:endParaRPr lang="cs-CZ" dirty="0"/>
          </a:p>
        </p:txBody>
      </p:sp>
      <p:pic>
        <p:nvPicPr>
          <p:cNvPr id="116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Zástupný symbol pro číslo snímku 4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pic>
        <p:nvPicPr>
          <p:cNvPr id="8" name="Obrázek 7" descr="http://www.msmt.cz/uploads/OP_VVV/Pravidla_pro_publicitu/logolinky/Logolink_OP_VVV_hor_barva_cz.jpg">
            <a:extLst>
              <a:ext uri="{FF2B5EF4-FFF2-40B4-BE49-F238E27FC236}">
                <a16:creationId xmlns:a16="http://schemas.microsoft.com/office/drawing/2014/main" id="{A4DC91D2-DB72-8D40-B2F0-6BB9D640197D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6254" y="0"/>
            <a:ext cx="5759450" cy="1277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1</a:t>
            </a:r>
            <a:r>
              <a:rPr dirty="0"/>
              <a:t>. </a:t>
            </a:r>
            <a:r>
              <a:rPr lang="cs-CZ" dirty="0" err="1"/>
              <a:t>SwiftUI</a:t>
            </a:r>
            <a:r>
              <a:rPr lang="cs-CZ" dirty="0"/>
              <a:t> - úvod</a:t>
            </a:r>
            <a:endParaRPr dirty="0"/>
          </a:p>
        </p:txBody>
      </p:sp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pic>
        <p:nvPicPr>
          <p:cNvPr id="10" name="Obrázek 9" descr="Obrázek 12">
            <a:extLst>
              <a:ext uri="{FF2B5EF4-FFF2-40B4-BE49-F238E27FC236}">
                <a16:creationId xmlns:a16="http://schemas.microsoft.com/office/drawing/2014/main" id="{30EDBE9E-0C68-41DB-9978-0D694C7D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29" y="38360"/>
            <a:ext cx="5759451" cy="127762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C18FAC-5549-AB40-9C83-8A8980065380}"/>
              </a:ext>
            </a:extLst>
          </p:cNvPr>
          <p:cNvSpPr txBox="1"/>
          <p:nvPr/>
        </p:nvSpPr>
        <p:spPr>
          <a:xfrm>
            <a:off x="2408311" y="6152791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293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1.1 Co je to </a:t>
            </a:r>
            <a:r>
              <a:rPr lang="cs-CZ" dirty="0" err="1"/>
              <a:t>SwiftUI</a:t>
            </a:r>
            <a:r>
              <a:rPr lang="cs-CZ" dirty="0"/>
              <a:t>?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48881"/>
            <a:ext cx="5375217" cy="32315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Framework pro deklarativní tvorbu uživatelského rozhraní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Společný pro iOS, </a:t>
            </a:r>
            <a:r>
              <a:rPr lang="cs-CZ" sz="1800" dirty="0" err="1">
                <a:sym typeface="Source Sans Pro Semibold"/>
              </a:rPr>
              <a:t>iPadOS</a:t>
            </a:r>
            <a:r>
              <a:rPr lang="cs-CZ" sz="1800" dirty="0">
                <a:sym typeface="Source Sans Pro Semibold"/>
              </a:rPr>
              <a:t>, macOS, </a:t>
            </a:r>
            <a:r>
              <a:rPr lang="cs-CZ" sz="1800" dirty="0" err="1">
                <a:sym typeface="Source Sans Pro Semibold"/>
              </a:rPr>
              <a:t>watchOS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tvOS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Využívá jazyk </a:t>
            </a:r>
            <a:r>
              <a:rPr lang="cs-CZ" sz="1800" dirty="0" err="1">
                <a:sym typeface="Source Sans Pro Semibold"/>
              </a:rPr>
              <a:t>Swift</a:t>
            </a:r>
            <a:r>
              <a:rPr lang="cs-CZ" sz="1800" dirty="0">
                <a:sym typeface="Source Sans Pro Semibold"/>
              </a:rPr>
              <a:t> a propojuje logiku s UI pomocí stavů a </a:t>
            </a:r>
            <a:r>
              <a:rPr lang="cs-CZ" sz="1800" dirty="0" err="1">
                <a:sym typeface="Source Sans Pro Semibold"/>
              </a:rPr>
              <a:t>bindingů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Představen Apple na WWDC 2019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Reakce na limity </a:t>
            </a:r>
            <a:r>
              <a:rPr lang="cs-CZ" dirty="0" err="1"/>
              <a:t>UIKit</a:t>
            </a:r>
            <a:r>
              <a:rPr lang="cs-CZ" dirty="0"/>
              <a:t> – méně kódu, vyšší čitelnost, plná integrace s </a:t>
            </a:r>
            <a:r>
              <a:rPr lang="cs-CZ" dirty="0" err="1"/>
              <a:t>Xcode</a:t>
            </a:r>
            <a:r>
              <a:rPr lang="cs-CZ" dirty="0"/>
              <a:t> </a:t>
            </a:r>
            <a:r>
              <a:rPr lang="cs-CZ" dirty="0" err="1"/>
              <a:t>Preview</a:t>
            </a:r>
            <a:endParaRPr lang="cs-CZ" dirty="0"/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Od iOS 13 základní framework pro všechny nové aplikace</a:t>
            </a:r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4102CE2-BE8F-F843-9C8B-184B1573777A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2" name="Picture 2" descr="SwiftUI icons - Customizable Swift UI logos and SVGs">
            <a:extLst>
              <a:ext uri="{FF2B5EF4-FFF2-40B4-BE49-F238E27FC236}">
                <a16:creationId xmlns:a16="http://schemas.microsoft.com/office/drawing/2014/main" id="{BD192894-653F-A12B-A1B7-220F3CF50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694" y="1805258"/>
            <a:ext cx="4145006" cy="414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5494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1.2 Hlavní principy </a:t>
            </a:r>
            <a:r>
              <a:rPr lang="cs-CZ" dirty="0" err="1"/>
              <a:t>SwiftUI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1369875" y="2285464"/>
            <a:ext cx="6715946" cy="353293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Deklarativní přístup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Místo imperativního „jak“ (</a:t>
            </a:r>
            <a:r>
              <a:rPr lang="cs-CZ" sz="1800" dirty="0" err="1">
                <a:sym typeface="Source Sans Pro Semibold"/>
              </a:rPr>
              <a:t>UIKit</a:t>
            </a:r>
            <a:r>
              <a:rPr lang="cs-CZ" sz="1800" dirty="0">
                <a:sym typeface="Source Sans Pro Semibold"/>
              </a:rPr>
              <a:t>) popisujeme „co“ chceme zobrazit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Každý stav aplikace odpovídá konkrétnímu vzhledu UI</a:t>
            </a:r>
          </a:p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Stav a data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State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Binding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ObservedObject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EnvironmentObject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Reaktivní aktualizace UI – při změně dat se UI samo překreslí</a:t>
            </a:r>
          </a:p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Architektura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Struktury místo tříd (</a:t>
            </a:r>
            <a:r>
              <a:rPr lang="cs-CZ" sz="1800" dirty="0" err="1">
                <a:sym typeface="Source Sans Pro Semibold"/>
              </a:rPr>
              <a:t>struct</a:t>
            </a:r>
            <a:r>
              <a:rPr lang="cs-CZ" sz="1800" dirty="0">
                <a:sym typeface="Source Sans Pro Semibold"/>
              </a:rPr>
              <a:t>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)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Kompozice pohledů – </a:t>
            </a:r>
            <a:r>
              <a:rPr lang="cs-CZ" sz="1800" dirty="0" err="1">
                <a:sym typeface="Source Sans Pro Semibold"/>
              </a:rPr>
              <a:t>znovupoužitelnost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Integrace s </a:t>
            </a:r>
            <a:r>
              <a:rPr lang="cs-CZ" sz="1800" dirty="0" err="1">
                <a:sym typeface="Source Sans Pro Semibold"/>
              </a:rPr>
              <a:t>UIKit</a:t>
            </a:r>
            <a:r>
              <a:rPr lang="cs-CZ" sz="1800" dirty="0">
                <a:sym typeface="Source Sans Pro Semibold"/>
              </a:rPr>
              <a:t> pomocí </a:t>
            </a:r>
            <a:r>
              <a:rPr lang="cs-CZ" sz="1800" dirty="0" err="1">
                <a:sym typeface="Source Sans Pro Semibold"/>
              </a:rPr>
              <a:t>UIViewRepresentable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4102CE2-BE8F-F843-9C8B-184B1573777A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180545-1531-5384-7757-D8B1CAE3D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640" y="2295753"/>
            <a:ext cx="2971779" cy="372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234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2</a:t>
            </a:r>
            <a:r>
              <a:rPr dirty="0"/>
              <a:t>. </a:t>
            </a:r>
            <a:r>
              <a:rPr lang="cs-CZ" dirty="0" err="1"/>
              <a:t>SwiftUI</a:t>
            </a:r>
            <a:r>
              <a:rPr lang="cs-CZ" dirty="0"/>
              <a:t> – hlavní funkce FW</a:t>
            </a:r>
            <a:endParaRPr dirty="0"/>
          </a:p>
        </p:txBody>
      </p:sp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10" name="Obrázek 9" descr="Obrázek 12">
            <a:extLst>
              <a:ext uri="{FF2B5EF4-FFF2-40B4-BE49-F238E27FC236}">
                <a16:creationId xmlns:a16="http://schemas.microsoft.com/office/drawing/2014/main" id="{30EDBE9E-0C68-41DB-9978-0D694C7D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29" y="38360"/>
            <a:ext cx="5759451" cy="127762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9672770-854C-4943-B545-14D925F3F968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2.1 </a:t>
            </a:r>
            <a:r>
              <a:rPr lang="cs-CZ" dirty="0" err="1"/>
              <a:t>SwiftUI</a:t>
            </a:r>
            <a:r>
              <a:rPr lang="cs-CZ" dirty="0"/>
              <a:t> – hlavní funkce FW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Framework poskytuje infrastrukturu pro tvorbu UI, patří sem zejména: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UI komponenty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Layout systém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Animace a přechody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Navigation</a:t>
            </a:r>
            <a:r>
              <a:rPr lang="cs-CZ" sz="1800" dirty="0">
                <a:sym typeface="Source Sans Pro Semibold"/>
              </a:rPr>
              <a:t> &amp; </a:t>
            </a:r>
            <a:r>
              <a:rPr lang="cs-CZ" sz="1800" dirty="0" err="1">
                <a:sym typeface="Source Sans Pro Semibold"/>
              </a:rPr>
              <a:t>DataFlow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Integrace s </a:t>
            </a:r>
            <a:r>
              <a:rPr lang="cs-CZ" sz="1800" dirty="0" err="1">
                <a:sym typeface="Source Sans Pro Semibold"/>
              </a:rPr>
              <a:t>UIKit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Přístupnost a lokalizace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lang="cs-CZ" sz="1800" dirty="0">
              <a:sym typeface="Source Sans Pro Semibold"/>
            </a:endParaRPr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4AD4410-8B98-814E-9F1B-4867F0E170DB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832823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2.2 </a:t>
            </a:r>
            <a:r>
              <a:rPr lang="cs-CZ" dirty="0" err="1"/>
              <a:t>SwiftUI</a:t>
            </a:r>
            <a:r>
              <a:rPr lang="cs-CZ" dirty="0"/>
              <a:t> – UI komponenty</a:t>
            </a:r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48880"/>
            <a:ext cx="3917120" cy="378562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l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Text, Image, </a:t>
            </a:r>
            <a:r>
              <a:rPr lang="cs-CZ" sz="1800" dirty="0" err="1">
                <a:sym typeface="Source Sans Pro Semibold"/>
              </a:rPr>
              <a:t>Button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Toggle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Slider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Picker</a:t>
            </a:r>
            <a:r>
              <a:rPr lang="cs-CZ" sz="1800" dirty="0">
                <a:sym typeface="Source Sans Pro Semibold"/>
              </a:rPr>
              <a:t>, List, </a:t>
            </a:r>
            <a:r>
              <a:rPr lang="cs-CZ" sz="1800" dirty="0" err="1">
                <a:sym typeface="Source Sans Pro Semibold"/>
              </a:rPr>
              <a:t>Form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ScrollView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NavigationStack</a:t>
            </a:r>
            <a:endParaRPr lang="cs-CZ" sz="1800" dirty="0">
              <a:sym typeface="Source Sans Pro Semibold"/>
            </a:endParaRPr>
          </a:p>
          <a:p>
            <a:pPr marL="285750" indent="-285750" algn="l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Modifikátory pro vzhled (</a:t>
            </a:r>
            <a:r>
              <a:rPr lang="cs-CZ" sz="1800" dirty="0" err="1">
                <a:sym typeface="Source Sans Pro Semibold"/>
              </a:rPr>
              <a:t>e.g</a:t>
            </a:r>
            <a:r>
              <a:rPr lang="cs-CZ" sz="1800" dirty="0">
                <a:sym typeface="Source Sans Pro Semibold"/>
              </a:rPr>
              <a:t>. .</a:t>
            </a:r>
            <a:r>
              <a:rPr lang="cs-CZ" sz="1800" dirty="0" err="1">
                <a:sym typeface="Source Sans Pro Semibold"/>
              </a:rPr>
              <a:t>padding</a:t>
            </a:r>
            <a:r>
              <a:rPr lang="cs-CZ" sz="1800" dirty="0">
                <a:sym typeface="Source Sans Pro Semibold"/>
              </a:rPr>
              <a:t>(), .background(), .</a:t>
            </a:r>
            <a:r>
              <a:rPr lang="cs-CZ" sz="1800" dirty="0" err="1">
                <a:sym typeface="Source Sans Pro Semibold"/>
              </a:rPr>
              <a:t>cornerRadius</a:t>
            </a:r>
            <a:r>
              <a:rPr lang="cs-CZ" sz="1800" dirty="0">
                <a:sym typeface="Source Sans Pro Semibold"/>
              </a:rPr>
              <a:t>())</a:t>
            </a:r>
          </a:p>
          <a:p>
            <a:pPr marL="285750" indent="-285750" algn="l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Stylování pomocí .font(), .</a:t>
            </a:r>
            <a:r>
              <a:rPr lang="cs-CZ" sz="1800" dirty="0" err="1">
                <a:sym typeface="Source Sans Pro Semibold"/>
              </a:rPr>
              <a:t>foregroundColor</a:t>
            </a:r>
            <a:r>
              <a:rPr lang="cs-CZ" sz="1800" dirty="0">
                <a:sym typeface="Source Sans Pro Semibold"/>
              </a:rPr>
              <a:t>()</a:t>
            </a:r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4AD4410-8B98-814E-9F1B-4867F0E170DB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68D64C-2A18-4336-99F6-167BB2AFC2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0228" y="3394656"/>
            <a:ext cx="5037724" cy="2950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EE5F8C-8385-B845-AF00-04703FC1D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2096" y="2348880"/>
            <a:ext cx="1676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876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2.3 </a:t>
            </a:r>
            <a:r>
              <a:rPr lang="cs-CZ" dirty="0" err="1"/>
              <a:t>SwiftUI</a:t>
            </a:r>
            <a:r>
              <a:rPr lang="cs-CZ" dirty="0"/>
              <a:t> – Layout systém</a:t>
            </a:r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36002" y="2461677"/>
            <a:ext cx="8396294" cy="149248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VStack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HStack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ZStack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Grid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Adaptivní layout pro různá zařízení</a:t>
            </a:r>
            <a:endParaRPr lang="cs-CZ" sz="1400" dirty="0">
              <a:sym typeface="Source Sans Pro Semibold"/>
            </a:endParaRPr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4AD4410-8B98-814E-9F1B-4867F0E170DB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2ECC5FA-3747-F14C-4E60-13A45A4BE2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6674" y="3429000"/>
            <a:ext cx="7706828" cy="282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08336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2.4 </a:t>
            </a:r>
            <a:r>
              <a:rPr lang="cs-CZ" dirty="0" err="1"/>
              <a:t>SwiftUI</a:t>
            </a:r>
            <a:r>
              <a:rPr lang="cs-CZ" dirty="0"/>
              <a:t> – Animace a přechody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.</a:t>
            </a:r>
            <a:r>
              <a:rPr lang="cs-CZ" sz="1800" dirty="0" err="1">
                <a:sym typeface="Source Sans Pro Semibold"/>
              </a:rPr>
              <a:t>animation</a:t>
            </a:r>
            <a:r>
              <a:rPr lang="cs-CZ" sz="1800" dirty="0">
                <a:sym typeface="Source Sans Pro Semibold"/>
              </a:rPr>
              <a:t>(), .</a:t>
            </a:r>
            <a:r>
              <a:rPr lang="cs-CZ" sz="1800" dirty="0" err="1">
                <a:sym typeface="Source Sans Pro Semibold"/>
              </a:rPr>
              <a:t>transition</a:t>
            </a:r>
            <a:r>
              <a:rPr lang="cs-CZ" sz="1800" dirty="0">
                <a:sym typeface="Source Sans Pro Semibold"/>
              </a:rPr>
              <a:t>(), .</a:t>
            </a:r>
            <a:r>
              <a:rPr lang="cs-CZ" sz="1800" dirty="0" err="1">
                <a:sym typeface="Source Sans Pro Semibold"/>
              </a:rPr>
              <a:t>withAnimation</a:t>
            </a:r>
            <a:endParaRPr lang="cs-CZ" sz="1800" dirty="0">
              <a:sym typeface="Source Sans Pro Semibold"/>
            </a:endParaRPr>
          </a:p>
          <a:p>
            <a:pPr marL="285750" indent="-285750" algn="l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Implicitní a explicitní animace</a:t>
            </a:r>
            <a:br>
              <a:rPr lang="cs-CZ" sz="1800" dirty="0">
                <a:sym typeface="Source Sans Pro Semibold"/>
              </a:rPr>
            </a:br>
            <a:br>
              <a:rPr lang="cs-CZ" sz="1800" dirty="0">
                <a:sym typeface="Source Sans Pro Semibold"/>
              </a:rPr>
            </a:br>
            <a:r>
              <a:rPr lang="cs-CZ" sz="1800" dirty="0">
                <a:sym typeface="Source Sans Pro Semibold"/>
              </a:rPr>
              <a:t>Implicitní – </a:t>
            </a: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řídí samo:</a:t>
            </a:r>
            <a:br>
              <a:rPr lang="cs-CZ" sz="1800" dirty="0">
                <a:sym typeface="Source Sans Pro Semibold"/>
              </a:rPr>
            </a:br>
            <a:r>
              <a:rPr lang="cs-CZ" sz="1800" dirty="0">
                <a:sym typeface="Source Sans Pro Semibold"/>
              </a:rPr>
              <a:t>.</a:t>
            </a:r>
            <a:r>
              <a:rPr lang="cs-CZ" sz="1800" dirty="0" err="1">
                <a:sym typeface="Source Sans Pro Semibold"/>
              </a:rPr>
              <a:t>animation</a:t>
            </a:r>
            <a:r>
              <a:rPr lang="cs-CZ" sz="1800" dirty="0">
                <a:sym typeface="Source Sans Pro Semibold"/>
              </a:rPr>
              <a:t>(.</a:t>
            </a:r>
            <a:r>
              <a:rPr lang="cs-CZ" sz="1800" dirty="0" err="1">
                <a:sym typeface="Source Sans Pro Semibold"/>
              </a:rPr>
              <a:t>easeInOut</a:t>
            </a:r>
            <a:r>
              <a:rPr lang="cs-CZ" sz="1800" dirty="0">
                <a:sym typeface="Source Sans Pro Semibold"/>
              </a:rPr>
              <a:t>(</a:t>
            </a:r>
            <a:r>
              <a:rPr lang="cs-CZ" sz="1800" dirty="0" err="1">
                <a:sym typeface="Source Sans Pro Semibold"/>
              </a:rPr>
              <a:t>duration</a:t>
            </a:r>
            <a:r>
              <a:rPr lang="cs-CZ" sz="1800" dirty="0">
                <a:sym typeface="Source Sans Pro Semibold"/>
              </a:rPr>
              <a:t>: 0.5), </a:t>
            </a:r>
            <a:r>
              <a:rPr lang="cs-CZ" sz="1800" dirty="0" err="1">
                <a:sym typeface="Source Sans Pro Semibold"/>
              </a:rPr>
              <a:t>value</a:t>
            </a:r>
            <a:r>
              <a:rPr lang="cs-CZ" sz="1800" dirty="0">
                <a:sym typeface="Source Sans Pro Semibold"/>
              </a:rPr>
              <a:t>: </a:t>
            </a:r>
            <a:r>
              <a:rPr lang="cs-CZ" sz="1800" dirty="0" err="1">
                <a:sym typeface="Source Sans Pro Semibold"/>
              </a:rPr>
              <a:t>scale</a:t>
            </a:r>
            <a:r>
              <a:rPr lang="cs-CZ" sz="1800" dirty="0">
                <a:sym typeface="Source Sans Pro Semibold"/>
              </a:rPr>
              <a:t>)</a:t>
            </a:r>
            <a:br>
              <a:rPr lang="cs-CZ" sz="1800" dirty="0">
                <a:sym typeface="Source Sans Pro Semibold"/>
              </a:rPr>
            </a:br>
            <a:br>
              <a:rPr lang="cs-CZ" sz="1800" dirty="0">
                <a:sym typeface="Source Sans Pro Semibold"/>
              </a:rPr>
            </a:br>
            <a:r>
              <a:rPr lang="cs-CZ" sz="1800" dirty="0">
                <a:sym typeface="Source Sans Pro Semibold"/>
              </a:rPr>
              <a:t>Explicitní – přesné určení, kdy a jak se má animovat, řídí vývojář - </a:t>
            </a:r>
            <a:r>
              <a:rPr lang="cs-CZ" sz="1800" dirty="0" err="1">
                <a:sym typeface="Source Sans Pro Semibold"/>
              </a:rPr>
              <a:t>withAnimation</a:t>
            </a:r>
            <a:r>
              <a:rPr lang="cs-CZ" sz="1800" dirty="0">
                <a:sym typeface="Source Sans Pro Semibold"/>
              </a:rPr>
              <a:t>()</a:t>
            </a:r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4AD4410-8B98-814E-9F1B-4867F0E170DB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097620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E5A6A-6BBF-F4C3-B2AA-7A929E0CF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600A6206-EB13-62EA-60CC-C9876EFB601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2.5 </a:t>
            </a:r>
            <a:r>
              <a:rPr lang="cs-CZ" dirty="0" err="1"/>
              <a:t>SwiftUI</a:t>
            </a:r>
            <a:r>
              <a:rPr lang="cs-CZ" dirty="0"/>
              <a:t> – </a:t>
            </a:r>
            <a:r>
              <a:rPr lang="cs-CZ" dirty="0" err="1"/>
              <a:t>Navigation</a:t>
            </a:r>
            <a:r>
              <a:rPr lang="cs-CZ" dirty="0"/>
              <a:t> &amp; Data </a:t>
            </a:r>
            <a:r>
              <a:rPr lang="cs-CZ" dirty="0" err="1"/>
              <a:t>Flow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2FB4C557-FD7F-CCEB-87AE-960499C693B3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NavigationStack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TabView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Sheet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Alert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Sdílení dat přes Environment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1196E445-C872-6F40-EBB1-84CAC38C4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ABA93806-6BDF-7C4D-0374-754677A24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EDBAD140-93AB-3533-6289-A23466661EA9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0738FA72-2D59-B014-0714-6983F8683416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AA7FB643-004E-52F6-1F39-7C0A8E768E0C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535349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C0BD7-D0E6-7AA2-7099-3FB543E36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E97D256D-6D98-3BF9-031D-DC795A36E5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2.6 </a:t>
            </a:r>
            <a:r>
              <a:rPr lang="cs-CZ" dirty="0" err="1"/>
              <a:t>SwiftUI</a:t>
            </a:r>
            <a:r>
              <a:rPr lang="cs-CZ" dirty="0"/>
              <a:t> – Integrace s </a:t>
            </a:r>
            <a:r>
              <a:rPr lang="cs-CZ" dirty="0" err="1"/>
              <a:t>UIKit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0865A21D-9744-3916-FF74-940C65C3129D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UIViewRepresentable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UIViewControllerRepresentable</a:t>
            </a:r>
            <a:endParaRPr lang="cs-CZ" sz="1800" dirty="0">
              <a:sym typeface="Source Sans Pro Semibold"/>
            </a:endParaRP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3C5DE84B-1A73-46AD-D1F5-EC8ED4CCE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19180AF9-80AB-218D-3926-2C66AB3E5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E3459E2E-97A8-0965-5234-8E5FAB4AA41A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2EB951F6-F4D9-E878-47B1-0CB5975B76BC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26288363-F7BA-745C-C77F-85887B5A14B6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943436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DEF51-1A83-35BB-777A-1545B58D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8611115D-9B91-8B58-0654-0539CE62F62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2.7 </a:t>
            </a:r>
            <a:r>
              <a:rPr lang="cs-CZ" dirty="0" err="1"/>
              <a:t>SwiftUI</a:t>
            </a:r>
            <a:r>
              <a:rPr lang="cs-CZ" dirty="0"/>
              <a:t> – Přístupnost a lokalizace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4909AACE-A4E7-FA1E-8822-7E5B16B9E8A4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1"/>
            <a:ext cx="8396294" cy="18277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automaticky dědí </a:t>
            </a:r>
            <a:r>
              <a:rPr lang="cs-CZ" sz="1800" dirty="0" err="1">
                <a:sym typeface="Source Sans Pro Semibold"/>
              </a:rPr>
              <a:t>VoiceOver</a:t>
            </a:r>
            <a:r>
              <a:rPr lang="cs-CZ" sz="1800" dirty="0">
                <a:sym typeface="Source Sans Pro Semibold"/>
              </a:rPr>
              <a:t> a </a:t>
            </a:r>
            <a:r>
              <a:rPr lang="cs-CZ" sz="1800" dirty="0" err="1">
                <a:sym typeface="Source Sans Pro Semibold"/>
              </a:rPr>
              <a:t>Dynamic</a:t>
            </a:r>
            <a:r>
              <a:rPr lang="cs-CZ" sz="1800" dirty="0">
                <a:sym typeface="Source Sans Pro Semibold"/>
              </a:rPr>
              <a:t> Type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Přístupnost tedy automaticky funguje pro standardní prvky jako Text, </a:t>
            </a:r>
            <a:r>
              <a:rPr lang="cs-CZ" sz="1800" dirty="0" err="1">
                <a:sym typeface="Source Sans Pro Semibold"/>
              </a:rPr>
              <a:t>Button</a:t>
            </a:r>
            <a:r>
              <a:rPr lang="cs-CZ" sz="1800" dirty="0">
                <a:sym typeface="Source Sans Pro Semibold"/>
              </a:rPr>
              <a:t> atd. bez nutnosti používat </a:t>
            </a:r>
            <a:r>
              <a:rPr lang="cs-CZ" sz="1800" dirty="0" err="1">
                <a:sym typeface="Source Sans Pro Semibold"/>
              </a:rPr>
              <a:t>accesibilityLabel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Dynamic</a:t>
            </a:r>
            <a:r>
              <a:rPr lang="cs-CZ" sz="1800" dirty="0">
                <a:sym typeface="Source Sans Pro Semibold"/>
              </a:rPr>
              <a:t> Type umožňuje uživateli nastavit si velikost písma v systému (v Nastavení → Zobrazení a velikost textu)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98AE9582-297E-15BA-84EE-AC90969EC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E257F593-19C0-BE3F-97BD-8537AFC1A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1C33FEDC-D75D-C421-F031-2B2626B6C4AE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9B744D43-34B3-C4DF-B7F4-02A4E85D124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FC4BC9C-5723-DB45-8050-EB180983EEE5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D563AB-C790-1509-84BE-6E45A5FDE167}"/>
              </a:ext>
            </a:extLst>
          </p:cNvPr>
          <p:cNvSpPr txBox="1"/>
          <p:nvPr/>
        </p:nvSpPr>
        <p:spPr>
          <a:xfrm>
            <a:off x="2351585" y="4506803"/>
            <a:ext cx="609805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 err="1"/>
              <a:t>Příklad</a:t>
            </a:r>
            <a:r>
              <a:rPr lang="en-US" dirty="0"/>
              <a:t> </a:t>
            </a:r>
            <a:r>
              <a:rPr lang="en-US" dirty="0" err="1"/>
              <a:t>přepisu</a:t>
            </a:r>
            <a:r>
              <a:rPr lang="en-US" dirty="0"/>
              <a:t> </a:t>
            </a:r>
            <a:r>
              <a:rPr lang="en-US" dirty="0" err="1"/>
              <a:t>výchozího</a:t>
            </a:r>
            <a:r>
              <a:rPr lang="en-US" dirty="0"/>
              <a:t> </a:t>
            </a:r>
            <a:r>
              <a:rPr lang="en-US" dirty="0" err="1"/>
              <a:t>chování</a:t>
            </a:r>
            <a:r>
              <a:rPr lang="en-US" dirty="0"/>
              <a:t> </a:t>
            </a:r>
            <a:r>
              <a:rPr lang="en-US" dirty="0" err="1"/>
              <a:t>prvku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Image(</a:t>
            </a:r>
            <a:r>
              <a:rPr lang="en-US" dirty="0" err="1"/>
              <a:t>systemName</a:t>
            </a:r>
            <a:r>
              <a:rPr lang="en-US" dirty="0"/>
              <a:t>: "trash")</a:t>
            </a:r>
          </a:p>
          <a:p>
            <a:r>
              <a:rPr lang="en-US" dirty="0"/>
              <a:t>    .</a:t>
            </a:r>
            <a:r>
              <a:rPr lang="en-US" dirty="0" err="1"/>
              <a:t>accessibilityLabel</a:t>
            </a:r>
            <a:r>
              <a:rPr lang="en-US" dirty="0"/>
              <a:t>("</a:t>
            </a:r>
            <a:r>
              <a:rPr lang="en-US" dirty="0" err="1"/>
              <a:t>Smazat</a:t>
            </a:r>
            <a:r>
              <a:rPr lang="en-US" dirty="0"/>
              <a:t> </a:t>
            </a:r>
            <a:r>
              <a:rPr lang="en-US" dirty="0" err="1"/>
              <a:t>položku</a:t>
            </a:r>
            <a:r>
              <a:rPr lang="en-US" dirty="0"/>
              <a:t>")</a:t>
            </a:r>
          </a:p>
          <a:p>
            <a:r>
              <a:rPr lang="en-US" dirty="0"/>
              <a:t>    .</a:t>
            </a:r>
            <a:r>
              <a:rPr lang="en-US" dirty="0" err="1"/>
              <a:t>accessibilityHint</a:t>
            </a:r>
            <a:r>
              <a:rPr lang="en-US" dirty="0"/>
              <a:t>("</a:t>
            </a:r>
            <a:r>
              <a:rPr lang="en-US" dirty="0" err="1"/>
              <a:t>Odstraní</a:t>
            </a:r>
            <a:r>
              <a:rPr lang="en-US" dirty="0"/>
              <a:t> </a:t>
            </a:r>
            <a:r>
              <a:rPr lang="en-US" dirty="0" err="1"/>
              <a:t>položku</a:t>
            </a:r>
            <a:r>
              <a:rPr lang="en-US" dirty="0"/>
              <a:t> ze </a:t>
            </a:r>
            <a:r>
              <a:rPr lang="en-US" dirty="0" err="1"/>
              <a:t>seznamu</a:t>
            </a:r>
            <a:r>
              <a:rPr lang="en-US" dirty="0"/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18147144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519F6-8820-7A0C-4D8E-C87767437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>
            <a:extLst>
              <a:ext uri="{FF2B5EF4-FFF2-40B4-BE49-F238E27FC236}">
                <a16:creationId xmlns:a16="http://schemas.microsoft.com/office/drawing/2014/main" id="{E0AF49D8-91E4-570D-4DE3-D921978AEC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3</a:t>
            </a:r>
            <a:r>
              <a:rPr dirty="0"/>
              <a:t>. </a:t>
            </a:r>
            <a:r>
              <a:rPr lang="cs-CZ" dirty="0" err="1"/>
              <a:t>SwiftUI</a:t>
            </a:r>
            <a:r>
              <a:rPr lang="cs-CZ" dirty="0"/>
              <a:t> – </a:t>
            </a:r>
            <a:r>
              <a:rPr lang="cs-CZ" dirty="0" err="1"/>
              <a:t>Diffing</a:t>
            </a:r>
            <a:r>
              <a:rPr lang="cs-CZ" dirty="0"/>
              <a:t> </a:t>
            </a:r>
            <a:r>
              <a:rPr lang="cs-CZ" dirty="0" err="1"/>
              <a:t>Algorithm</a:t>
            </a:r>
            <a:endParaRPr dirty="0"/>
          </a:p>
        </p:txBody>
      </p:sp>
      <p:pic>
        <p:nvPicPr>
          <p:cNvPr id="124" name="Picture 6" descr="Picture 6">
            <a:extLst>
              <a:ext uri="{FF2B5EF4-FFF2-40B4-BE49-F238E27FC236}">
                <a16:creationId xmlns:a16="http://schemas.microsoft.com/office/drawing/2014/main" id="{38D8D350-19CE-791D-1E5D-8B3CF4E89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>
            <a:extLst>
              <a:ext uri="{FF2B5EF4-FFF2-40B4-BE49-F238E27FC236}">
                <a16:creationId xmlns:a16="http://schemas.microsoft.com/office/drawing/2014/main" id="{201A966A-5357-B913-A8C2-519DE09E471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pic>
        <p:nvPicPr>
          <p:cNvPr id="10" name="Obrázek 9" descr="Obrázek 12">
            <a:extLst>
              <a:ext uri="{FF2B5EF4-FFF2-40B4-BE49-F238E27FC236}">
                <a16:creationId xmlns:a16="http://schemas.microsoft.com/office/drawing/2014/main" id="{FFEB1778-B879-BA13-96FC-F463F22FE8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29" y="38360"/>
            <a:ext cx="5759451" cy="127762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3C4B346-F710-3D61-302F-58B9F79F4943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68583E3-88CD-4A3C-D1F4-6B18D3077110}"/>
              </a:ext>
            </a:extLst>
          </p:cNvPr>
          <p:cNvSpPr txBox="1">
            <a:spLocks/>
          </p:cNvSpPr>
          <p:nvPr/>
        </p:nvSpPr>
        <p:spPr>
          <a:xfrm>
            <a:off x="2835579" y="3894587"/>
            <a:ext cx="6400801" cy="532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4572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9144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13716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18288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hangingPunct="1"/>
            <a:r>
              <a:rPr lang="cs-CZ" dirty="0"/>
              <a:t>Princip překreslování ve </a:t>
            </a:r>
            <a:r>
              <a:rPr lang="cs-CZ" dirty="0" err="1"/>
              <a:t>SwiftUI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232921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4038-30BF-02F5-DB95-97F9FBFD1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1D4C9939-BBDE-7922-5C8D-6E1AF6AD94B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3.1 </a:t>
            </a:r>
            <a:r>
              <a:rPr lang="cs-CZ" dirty="0" err="1"/>
              <a:t>SwiftUI</a:t>
            </a:r>
            <a:r>
              <a:rPr lang="cs-CZ" dirty="0"/>
              <a:t> – </a:t>
            </a:r>
            <a:r>
              <a:rPr lang="cs-CZ" dirty="0" err="1"/>
              <a:t>Diffing</a:t>
            </a:r>
            <a:r>
              <a:rPr lang="cs-CZ" dirty="0"/>
              <a:t> </a:t>
            </a:r>
            <a:r>
              <a:rPr lang="cs-CZ" dirty="0" err="1"/>
              <a:t>Algorithm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E9FC79B9-6329-498D-5CBD-0351F7BEC73A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1"/>
            <a:ext cx="8396294" cy="32315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interní mechanismus frameworku, který efektivně aktualizuje uživatelské rozhraní porovnáním starého a nového stavu </a:t>
            </a:r>
            <a:r>
              <a:rPr lang="cs-CZ" sz="1800" dirty="0" err="1">
                <a:sym typeface="Source Sans Pro Semibold"/>
              </a:rPr>
              <a:t>view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reaguje na změny zdroje dat, jako je např. @</a:t>
            </a:r>
            <a:r>
              <a:rPr lang="cs-CZ" sz="1800" dirty="0" err="1">
                <a:sym typeface="Source Sans Pro Semibold"/>
              </a:rPr>
              <a:t>State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framework určí, které částí UI je nutno překreslit, vyhýbá se zbytečným operacím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přináší značné zjednodušení vývoje (v případě použití </a:t>
            </a:r>
            <a:r>
              <a:rPr lang="cs-CZ" sz="1800" dirty="0" err="1">
                <a:sym typeface="Source Sans Pro Semibold"/>
              </a:rPr>
              <a:t>UIKit</a:t>
            </a:r>
            <a:r>
              <a:rPr lang="cs-CZ" sz="1800" dirty="0">
                <a:sym typeface="Source Sans Pro Semibold"/>
              </a:rPr>
              <a:t>, je třeba aktualizace UI řídit manuálně)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0DDA03C2-DF7A-1D82-AB47-A59D60E96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FBA1F294-DB7F-B007-F816-C6F951203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8A6EB1F0-2208-8DF3-483C-331813F9A90D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8135F17E-58E2-7BE5-03C4-CCA787F11CB0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5D3B7AC-E7F5-0AD4-48A6-480163F23617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9230367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137CE-BCE9-61A8-E4F9-98B67843E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3E0CDAD1-4BE9-EF82-630C-3E99BE26E02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3.2 </a:t>
            </a:r>
            <a:r>
              <a:rPr lang="cs-CZ" dirty="0" err="1"/>
              <a:t>SwiftUI</a:t>
            </a:r>
            <a:r>
              <a:rPr lang="cs-CZ" dirty="0"/>
              <a:t> – proč zrovna </a:t>
            </a:r>
            <a:r>
              <a:rPr lang="cs-CZ" dirty="0" err="1"/>
              <a:t>Diffing</a:t>
            </a:r>
            <a:r>
              <a:rPr lang="cs-CZ" dirty="0"/>
              <a:t> </a:t>
            </a:r>
            <a:r>
              <a:rPr lang="cs-CZ" dirty="0" err="1"/>
              <a:t>Algorithm</a:t>
            </a:r>
            <a:r>
              <a:rPr lang="cs-CZ" dirty="0"/>
              <a:t>?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84CE68EE-03F9-F5D1-D411-5B4F9451D3DA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323150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= </a:t>
            </a:r>
            <a:r>
              <a:rPr lang="cs-CZ" sz="1800" dirty="0" err="1">
                <a:sym typeface="Source Sans Pro Semibold"/>
              </a:rPr>
              <a:t>value</a:t>
            </a:r>
            <a:r>
              <a:rPr lang="cs-CZ" sz="1800" dirty="0">
                <a:sym typeface="Source Sans Pro Semibold"/>
              </a:rPr>
              <a:t> type (</a:t>
            </a:r>
            <a:r>
              <a:rPr lang="cs-CZ" sz="1800" dirty="0" err="1">
                <a:sym typeface="Source Sans Pro Semibold"/>
              </a:rPr>
              <a:t>struct</a:t>
            </a:r>
            <a:r>
              <a:rPr lang="cs-CZ" sz="1800" dirty="0">
                <a:sym typeface="Source Sans Pro Semibold"/>
              </a:rPr>
              <a:t>), ne objekt jako </a:t>
            </a:r>
            <a:r>
              <a:rPr lang="cs-CZ" sz="1800" dirty="0" err="1">
                <a:sym typeface="Source Sans Pro Semibold"/>
              </a:rPr>
              <a:t>UIView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není “držený” v paměti – při změně stavu </a:t>
            </a: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znovu vytvoří celý strom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struktur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Aby nedošlo k vykreslování stromu od nuly používá se </a:t>
            </a:r>
            <a:r>
              <a:rPr lang="cs-CZ" sz="1800" dirty="0" err="1">
                <a:sym typeface="Source Sans Pro Semibold"/>
              </a:rPr>
              <a:t>diffing</a:t>
            </a:r>
            <a:r>
              <a:rPr lang="cs-CZ" sz="1800" dirty="0">
                <a:sym typeface="Source Sans Pro Semibold"/>
              </a:rPr>
              <a:t> algoritmus, který porovnává:</a:t>
            </a:r>
          </a:p>
          <a:p>
            <a:pPr marL="693738" indent="-339725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předchozí strom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struktur vs. nový strom </a:t>
            </a:r>
            <a:r>
              <a:rPr lang="cs-CZ" sz="1800" dirty="0" err="1">
                <a:sym typeface="Source Sans Pro Semibold"/>
              </a:rPr>
              <a:t>view</a:t>
            </a:r>
            <a:endParaRPr lang="cs-CZ" sz="1800" dirty="0">
              <a:sym typeface="Source Sans Pro Semibold"/>
            </a:endParaRPr>
          </a:p>
          <a:p>
            <a:pPr marL="693738" indent="-3111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a vypočítá minimální sadu změn (insert, </a:t>
            </a:r>
            <a:r>
              <a:rPr lang="cs-CZ" sz="1800" dirty="0" err="1">
                <a:sym typeface="Source Sans Pro Semibold"/>
              </a:rPr>
              <a:t>delete</a:t>
            </a:r>
            <a:r>
              <a:rPr lang="cs-CZ" sz="1800" dirty="0">
                <a:sym typeface="Source Sans Pro Semibold"/>
              </a:rPr>
              <a:t>, update) potřebnou k aktualizaci UI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2A6E2B22-9B5F-91BD-2E5F-FD4831017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E67F4802-A65F-5318-9C9C-25A328E98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32BC7B82-8890-89F9-FCA7-915C32BCCF5E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4885D5A9-6C81-E86B-183A-91F8AF7DC2D9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AE377B8C-0C2C-DD59-878D-B9E0C92BDDCB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2996673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5F8DC-15DC-D413-514D-FE0226B3A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39C80940-C755-34D3-2334-B31BDEB8EC5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3.3 </a:t>
            </a:r>
            <a:r>
              <a:rPr lang="cs-CZ" dirty="0" err="1"/>
              <a:t>SwiftUI</a:t>
            </a:r>
            <a:r>
              <a:rPr lang="cs-CZ" dirty="0"/>
              <a:t> – princip </a:t>
            </a:r>
            <a:r>
              <a:rPr lang="cs-CZ" dirty="0" err="1"/>
              <a:t>Diffing</a:t>
            </a:r>
            <a:r>
              <a:rPr lang="cs-CZ" dirty="0"/>
              <a:t> </a:t>
            </a:r>
            <a:r>
              <a:rPr lang="cs-CZ" dirty="0" err="1"/>
              <a:t>Algorithm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D44C6F5C-1A7F-439D-8AD8-5018CFBAB07F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5816183" y="2348880"/>
            <a:ext cx="4960337" cy="360221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si vytvoří dva stromy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struktur (původní vs. nový)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Diff</a:t>
            </a:r>
            <a:r>
              <a:rPr lang="cs-CZ" sz="1800" dirty="0">
                <a:sym typeface="Source Sans Pro Semibold"/>
              </a:rPr>
              <a:t> algoritmus zjistí:</a:t>
            </a:r>
          </a:p>
          <a:p>
            <a:pPr marL="693738" lvl="1" indent="-398463" algn="just">
              <a:spcBef>
                <a:spcPts val="400"/>
              </a:spcBef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Text("B") s ID 2 je pořád tam → zůstává, žádná akce</a:t>
            </a:r>
          </a:p>
          <a:p>
            <a:pPr marL="693738" lvl="1" indent="-398463" algn="just">
              <a:spcBef>
                <a:spcPts val="400"/>
              </a:spcBef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Text("A") s ID 1 zmizel → odebrat</a:t>
            </a:r>
          </a:p>
          <a:p>
            <a:pPr marL="693738" lvl="1" indent="-398463" algn="just">
              <a:spcBef>
                <a:spcPts val="400"/>
              </a:spcBef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Text("C") s ID 3 nový → vložit na začátek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DE2F74C3-FBAB-508D-0A1C-12E284696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AAD28A8F-FAA3-C5CD-893A-FE1B12362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51DA0C09-F810-7F3A-6F2F-0FD4602ECAA5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E7C39C55-DC1B-F0A7-F80E-20C02C60A4F7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ADDE2CF-2747-150F-B83D-5B4414ACF4F6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C23C57-B0B4-5CD5-3034-EF331070F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762" y="2411030"/>
            <a:ext cx="2612251" cy="332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7368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14D70-9820-74B8-788B-4AD4D685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AA1C6866-A3A6-33F8-14E2-9BAE7DB6B2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3.4 </a:t>
            </a:r>
            <a:r>
              <a:rPr lang="cs-CZ" dirty="0" err="1"/>
              <a:t>SwiftUI</a:t>
            </a:r>
            <a:r>
              <a:rPr lang="cs-CZ" dirty="0"/>
              <a:t> – </a:t>
            </a:r>
            <a:r>
              <a:rPr lang="cs-CZ" dirty="0" err="1"/>
              <a:t>Diffing</a:t>
            </a:r>
            <a:r>
              <a:rPr lang="cs-CZ" dirty="0"/>
              <a:t> </a:t>
            </a:r>
            <a:r>
              <a:rPr lang="cs-CZ" dirty="0" err="1"/>
              <a:t>Algorithm</a:t>
            </a:r>
            <a:r>
              <a:rPr lang="cs-CZ" dirty="0"/>
              <a:t> a role id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9A0240E7-F1B7-0D33-CFC2-B52C3AEBBE6B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1663909" y="2348880"/>
            <a:ext cx="9112612" cy="360221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potřebuje vědět který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je který → pracuje </a:t>
            </a:r>
            <a:r>
              <a:rPr lang="cs-CZ" sz="1800" b="1" dirty="0">
                <a:sym typeface="Source Sans Pro Semibold"/>
              </a:rPr>
              <a:t>s ID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Jednoduchým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ID generuje automaticky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U kolekcí (</a:t>
            </a:r>
            <a:r>
              <a:rPr lang="cs-CZ" sz="1800" dirty="0" err="1">
                <a:sym typeface="Source Sans Pro Semibold"/>
              </a:rPr>
              <a:t>ForEach</a:t>
            </a:r>
            <a:r>
              <a:rPr lang="cs-CZ" sz="1800" dirty="0">
                <a:sym typeface="Source Sans Pro Semibold"/>
              </a:rPr>
              <a:t>, List) mu ID přidělujeme sami:</a:t>
            </a: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ForEach</a:t>
            </a:r>
            <a:r>
              <a:rPr lang="cs-CZ" sz="1800" dirty="0">
                <a:sym typeface="Source Sans Pro Semibold"/>
              </a:rPr>
              <a:t>(</a:t>
            </a:r>
            <a:r>
              <a:rPr lang="cs-CZ" sz="1800" dirty="0" err="1">
                <a:sym typeface="Source Sans Pro Semibold"/>
              </a:rPr>
              <a:t>items</a:t>
            </a:r>
            <a:r>
              <a:rPr lang="cs-CZ" sz="1800" dirty="0">
                <a:sym typeface="Source Sans Pro Semibold"/>
              </a:rPr>
              <a:t>, id: \.</a:t>
            </a:r>
            <a:r>
              <a:rPr lang="cs-CZ" sz="1800" dirty="0" err="1">
                <a:sym typeface="Source Sans Pro Semibold"/>
              </a:rPr>
              <a:t>self</a:t>
            </a:r>
            <a:r>
              <a:rPr lang="cs-CZ" sz="1800" dirty="0">
                <a:sym typeface="Source Sans Pro Semibold"/>
              </a:rPr>
              <a:t>) nebo vlastní id pole / </a:t>
            </a:r>
            <a:r>
              <a:rPr lang="cs-CZ" sz="1800" dirty="0" err="1">
                <a:sym typeface="Source Sans Pro Semibold"/>
              </a:rPr>
              <a:t>Identifiable</a:t>
            </a:r>
            <a:r>
              <a:rPr lang="cs-CZ" sz="1800" dirty="0">
                <a:sym typeface="Source Sans Pro Semibold"/>
              </a:rPr>
              <a:t> model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DD4D612B-0B1C-FF5F-1307-E1D97029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9004029D-3C74-648B-6F39-9CB30FE09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57EA6123-EC2E-7156-CC14-CD11A7FC58A0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05A1FEEA-CF42-F6D8-7CA3-563BF44AC19A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6BA14818-2679-2637-3C1A-D9DCF254FCE9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501074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09088-65CE-ED3E-3B44-D67D6CC06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89124202-03FD-8E68-8E32-96132DC26CB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3.4 </a:t>
            </a:r>
            <a:r>
              <a:rPr lang="cs-CZ" dirty="0" err="1"/>
              <a:t>SwiftUI</a:t>
            </a:r>
            <a:r>
              <a:rPr lang="cs-CZ" dirty="0"/>
              <a:t> – </a:t>
            </a:r>
            <a:r>
              <a:rPr lang="cs-CZ" dirty="0" err="1"/>
              <a:t>Diffing</a:t>
            </a:r>
            <a:r>
              <a:rPr lang="cs-CZ" dirty="0"/>
              <a:t> </a:t>
            </a:r>
            <a:r>
              <a:rPr lang="cs-CZ" dirty="0" err="1"/>
              <a:t>Algorithm</a:t>
            </a:r>
            <a:r>
              <a:rPr lang="cs-CZ" dirty="0"/>
              <a:t> a role id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DD4CEA2F-22B5-F967-24E6-0656E18D5215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1663908" y="2348880"/>
            <a:ext cx="9293901" cy="3785623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✅ Stabilní a unikátní ID → </a:t>
            </a: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:</a:t>
            </a: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zbytečně nepřekresluje UI</a:t>
            </a: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zachová lokální stav (</a:t>
            </a:r>
            <a:r>
              <a:rPr lang="cs-CZ" sz="1800" dirty="0" err="1">
                <a:sym typeface="Source Sans Pro Semibold"/>
              </a:rPr>
              <a:t>focus</a:t>
            </a:r>
            <a:r>
              <a:rPr lang="cs-CZ" sz="1800" dirty="0">
                <a:sym typeface="Source Sans Pro Semibold"/>
              </a:rPr>
              <a:t>, </a:t>
            </a:r>
            <a:r>
              <a:rPr lang="cs-CZ" sz="1800" dirty="0" err="1">
                <a:sym typeface="Source Sans Pro Semibold"/>
              </a:rPr>
              <a:t>selection</a:t>
            </a:r>
            <a:r>
              <a:rPr lang="cs-CZ" sz="1800" dirty="0">
                <a:sym typeface="Source Sans Pro Semibold"/>
              </a:rPr>
              <a:t>, animace)</a:t>
            </a:r>
          </a:p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‼️ Nestabilní ID (např. .id(UUID()) na každém </a:t>
            </a:r>
            <a:r>
              <a:rPr lang="cs-CZ" sz="1800" dirty="0" err="1">
                <a:sym typeface="Source Sans Pro Semibold"/>
              </a:rPr>
              <a:t>renderu</a:t>
            </a:r>
            <a:r>
              <a:rPr lang="cs-CZ" sz="1800" dirty="0">
                <a:sym typeface="Source Sans Pro Semibold"/>
              </a:rPr>
              <a:t>)</a:t>
            </a: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si myslí, že jsou to nové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pokaždé</a:t>
            </a: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přerenderuje</a:t>
            </a:r>
            <a:r>
              <a:rPr lang="cs-CZ" sz="1800" dirty="0">
                <a:sym typeface="Source Sans Pro Semibold"/>
              </a:rPr>
              <a:t> vše, ztratí se stav, trpí výkon </a:t>
            </a:r>
          </a:p>
          <a:p>
            <a:pPr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‼️ Neunikátní ID (např. id: \.</a:t>
            </a:r>
            <a:r>
              <a:rPr lang="cs-CZ" sz="1800" dirty="0" err="1">
                <a:sym typeface="Source Sans Pro Semibold"/>
              </a:rPr>
              <a:t>name</a:t>
            </a:r>
            <a:r>
              <a:rPr lang="cs-CZ" sz="1800" dirty="0">
                <a:sym typeface="Source Sans Pro Semibold"/>
              </a:rPr>
              <a:t>, ale jména se opakují)</a:t>
            </a: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recykluje nesprávný </a:t>
            </a:r>
            <a:r>
              <a:rPr lang="cs-CZ" sz="1800" dirty="0" err="1">
                <a:sym typeface="Source Sans Pro Semibold"/>
              </a:rPr>
              <a:t>view</a:t>
            </a:r>
            <a:endParaRPr lang="cs-CZ" sz="1800" dirty="0">
              <a:sym typeface="Source Sans Pro Semibold"/>
            </a:endParaRP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můžeš vidět stará data, rozbité animace</a:t>
            </a: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BBB1F8AA-D1B4-08B3-6598-1637F6E82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74B4F968-3B2B-B563-2F14-BFFE2EC7C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7C6DE77B-8F68-1DD9-5D6F-196967380A47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A1C61783-005F-AD61-7410-1379CEB83C8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2E734A63-1276-8A12-AFE4-FB22BAEFC57A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1347335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F84E-3F01-4172-65A8-CAA1757CE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>
            <a:extLst>
              <a:ext uri="{FF2B5EF4-FFF2-40B4-BE49-F238E27FC236}">
                <a16:creationId xmlns:a16="http://schemas.microsoft.com/office/drawing/2014/main" id="{5D3695CE-B14F-3614-A7CA-444D327100A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4</a:t>
            </a:r>
            <a:r>
              <a:rPr dirty="0"/>
              <a:t>. </a:t>
            </a:r>
            <a:r>
              <a:rPr lang="cs-CZ" dirty="0" err="1"/>
              <a:t>SwiftUI</a:t>
            </a:r>
            <a:r>
              <a:rPr lang="cs-CZ" dirty="0"/>
              <a:t> – Runtime </a:t>
            </a:r>
            <a:r>
              <a:rPr lang="cs-CZ" dirty="0" err="1"/>
              <a:t>Render</a:t>
            </a:r>
            <a:r>
              <a:rPr lang="cs-CZ" dirty="0"/>
              <a:t> </a:t>
            </a:r>
            <a:r>
              <a:rPr lang="cs-CZ" dirty="0" err="1"/>
              <a:t>Decision</a:t>
            </a:r>
            <a:endParaRPr dirty="0"/>
          </a:p>
        </p:txBody>
      </p:sp>
      <p:pic>
        <p:nvPicPr>
          <p:cNvPr id="124" name="Picture 6" descr="Picture 6">
            <a:extLst>
              <a:ext uri="{FF2B5EF4-FFF2-40B4-BE49-F238E27FC236}">
                <a16:creationId xmlns:a16="http://schemas.microsoft.com/office/drawing/2014/main" id="{AB27F56F-C721-2283-96B6-5E06959D5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>
            <a:extLst>
              <a:ext uri="{FF2B5EF4-FFF2-40B4-BE49-F238E27FC236}">
                <a16:creationId xmlns:a16="http://schemas.microsoft.com/office/drawing/2014/main" id="{BB93682E-5ED8-ECE3-8E07-84E1FC88B9D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pic>
        <p:nvPicPr>
          <p:cNvPr id="10" name="Obrázek 9" descr="Obrázek 12">
            <a:extLst>
              <a:ext uri="{FF2B5EF4-FFF2-40B4-BE49-F238E27FC236}">
                <a16:creationId xmlns:a16="http://schemas.microsoft.com/office/drawing/2014/main" id="{0EECE273-234B-3454-1A72-8076502A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29" y="38360"/>
            <a:ext cx="5759451" cy="127762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538F754-90E5-EF7E-E6A1-69EDBA4947D2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1223199-7F1D-6FF7-1F99-D1FBF755DEE8}"/>
              </a:ext>
            </a:extLst>
          </p:cNvPr>
          <p:cNvSpPr txBox="1">
            <a:spLocks/>
          </p:cNvSpPr>
          <p:nvPr/>
        </p:nvSpPr>
        <p:spPr>
          <a:xfrm>
            <a:off x="2835579" y="4164013"/>
            <a:ext cx="6400801" cy="5329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1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4572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9144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13716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18288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hangingPunct="1"/>
            <a:r>
              <a:rPr lang="cs-CZ" dirty="0"/>
              <a:t>Rozhodování o vykreslování </a:t>
            </a:r>
            <a:r>
              <a:rPr lang="cs-CZ" dirty="0" err="1"/>
              <a:t>View</a:t>
            </a:r>
            <a:r>
              <a:rPr lang="cs-CZ" dirty="0"/>
              <a:t> za běhu</a:t>
            </a:r>
          </a:p>
        </p:txBody>
      </p:sp>
    </p:spTree>
    <p:extLst>
      <p:ext uri="{BB962C8B-B14F-4D97-AF65-F5344CB8AC3E}">
        <p14:creationId xmlns:p14="http://schemas.microsoft.com/office/powerpoint/2010/main" val="2835602267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85F72-A21B-25D2-99A0-565B3DBC6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8E047D74-69EE-AF44-63A9-8D822000B67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4.1 Rozhodování o vykreslování za běhu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7D145D94-322C-5358-40E8-CF5B09294D93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1663908" y="2348880"/>
            <a:ext cx="9293901" cy="378562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nepoužívá jedinou vykreslovací strategii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není tedy pouze </a:t>
            </a:r>
            <a:r>
              <a:rPr lang="cs-CZ" sz="1800" dirty="0" err="1">
                <a:sym typeface="Source Sans Pro Semibold"/>
              </a:rPr>
              <a:t>wrapper</a:t>
            </a:r>
            <a:r>
              <a:rPr lang="cs-CZ" sz="1800" dirty="0">
                <a:sym typeface="Source Sans Pro Semibold"/>
              </a:rPr>
              <a:t> nad </a:t>
            </a:r>
            <a:r>
              <a:rPr lang="cs-CZ" sz="1800" dirty="0" err="1">
                <a:sym typeface="Source Sans Pro Semibold"/>
              </a:rPr>
              <a:t>UIKit</a:t>
            </a:r>
            <a:r>
              <a:rPr lang="cs-CZ" sz="1800" dirty="0">
                <a:sym typeface="Source Sans Pro Semibold"/>
              </a:rPr>
              <a:t> FW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Způsob vykreslování je vybrán za běhu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Do procesu rozhodování vstupují parametry jako:</a:t>
            </a: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Dostupnost Metal frameworku, GPU, složitost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, nebo runtime platforma</a:t>
            </a:r>
          </a:p>
          <a:p>
            <a:pPr marL="574675" indent="-27940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lang="cs-CZ" sz="1800" dirty="0">
              <a:sym typeface="Source Sans Pro Semibold"/>
            </a:endParaRPr>
          </a:p>
          <a:p>
            <a:pPr marL="295275" indent="-280988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Např. na platformě </a:t>
            </a:r>
            <a:r>
              <a:rPr lang="cs-CZ" sz="1800" dirty="0" err="1">
                <a:sym typeface="Source Sans Pro Semibold"/>
              </a:rPr>
              <a:t>visionOS</a:t>
            </a:r>
            <a:r>
              <a:rPr lang="cs-CZ" sz="1800" dirty="0">
                <a:sym typeface="Source Sans Pro Semibold"/>
              </a:rPr>
              <a:t> není dostupný </a:t>
            </a:r>
            <a:r>
              <a:rPr lang="cs-CZ" sz="1800" dirty="0" err="1">
                <a:sym typeface="Source Sans Pro Semibold"/>
              </a:rPr>
              <a:t>AppKit</a:t>
            </a:r>
            <a:r>
              <a:rPr lang="cs-CZ" sz="1800" dirty="0">
                <a:sym typeface="Source Sans Pro Semibold"/>
              </a:rPr>
              <a:t> a </a:t>
            </a:r>
            <a:r>
              <a:rPr lang="cs-CZ" sz="1800" dirty="0" err="1">
                <a:sym typeface="Source Sans Pro Semibold"/>
              </a:rPr>
              <a:t>UIKit</a:t>
            </a:r>
            <a:r>
              <a:rPr lang="cs-CZ" sz="1800" dirty="0">
                <a:sym typeface="Source Sans Pro Semibold"/>
              </a:rPr>
              <a:t> pouze s omezeními, </a:t>
            </a: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tak zpravidla využije </a:t>
            </a: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</a:t>
            </a:r>
            <a:r>
              <a:rPr lang="cs-CZ" sz="1800" dirty="0" err="1">
                <a:sym typeface="Source Sans Pro Semibold"/>
              </a:rPr>
              <a:t>SceneGraf</a:t>
            </a:r>
            <a:r>
              <a:rPr lang="cs-CZ" sz="1800" dirty="0">
                <a:sym typeface="Source Sans Pro Semibold"/>
              </a:rPr>
              <a:t> a </a:t>
            </a:r>
            <a:r>
              <a:rPr lang="cs-CZ" sz="1800" dirty="0" err="1">
                <a:sym typeface="Source Sans Pro Semibold"/>
              </a:rPr>
              <a:t>RealityKit</a:t>
            </a:r>
            <a:r>
              <a:rPr lang="cs-CZ" sz="1800" dirty="0">
                <a:sym typeface="Source Sans Pro Semibold"/>
              </a:rPr>
              <a:t>.</a:t>
            </a:r>
          </a:p>
          <a:p>
            <a:pPr marL="14287"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lang="cs-CZ" sz="1800" dirty="0">
              <a:sym typeface="Source Sans Pro Semibold"/>
            </a:endParaRP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CB17FA1A-0F19-F8D7-9936-632DDE5BB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61AA9F4A-4C15-DDC4-3CE3-04EDC3A2D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CD62064C-886C-D35A-8FDA-AF6C0656ED0D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BC3A1596-4EA9-50DF-0882-C09FB9277FE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B9A1BD0E-E97A-25DB-4D64-303227321F12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2220682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DDEDF-9C9B-9AF0-449B-1264EB250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EDCFD9D6-58C2-8AD9-5DDF-4B7A135ACD1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4.2 Rozhodování o vykreslování za běhu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062A1C7C-4F06-73A8-498F-D094F2045635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1663908" y="2348881"/>
            <a:ext cx="9293901" cy="42164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Stejný kód může </a:t>
            </a:r>
            <a:r>
              <a:rPr lang="cs-CZ" sz="1800" dirty="0" err="1">
                <a:sym typeface="Source Sans Pro Semibold"/>
              </a:rPr>
              <a:t>SwiftUI</a:t>
            </a:r>
            <a:r>
              <a:rPr lang="cs-CZ" sz="1800" dirty="0">
                <a:sym typeface="Source Sans Pro Semibold"/>
              </a:rPr>
              <a:t> vykreslovat různě:</a:t>
            </a:r>
          </a:p>
          <a:p>
            <a:pPr marL="14287" algn="just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lang="cs-CZ" sz="1800" dirty="0">
              <a:sym typeface="Source Sans Pro Semibold"/>
            </a:endParaRP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35362398-0520-4F4C-1A7A-81E857FF5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52C830B1-68FD-302E-F957-817C52EA8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9C388344-EFFB-28E7-CCC6-C8C78B69A70B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E4AF6090-672D-A62F-899A-3869142D6354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4267FECC-4B0E-E92D-D4C6-B9B470BB1BB2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2127AE-5D91-3C9A-D7E0-1AC228FA76DE}"/>
              </a:ext>
            </a:extLst>
          </p:cNvPr>
          <p:cNvSpPr txBox="1"/>
          <p:nvPr/>
        </p:nvSpPr>
        <p:spPr>
          <a:xfrm>
            <a:off x="2036002" y="2911698"/>
            <a:ext cx="6100996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var</a:t>
            </a:r>
            <a:r>
              <a:rPr lang="en-US" dirty="0"/>
              <a:t> </a:t>
            </a:r>
            <a:r>
              <a:rPr lang="en-US" dirty="0">
                <a:effectLst/>
              </a:rPr>
              <a:t>body:</a:t>
            </a:r>
            <a:r>
              <a:rPr lang="en-US" dirty="0"/>
              <a:t> </a:t>
            </a:r>
            <a:r>
              <a:rPr lang="en-US" dirty="0">
                <a:effectLst/>
              </a:rPr>
              <a:t>some</a:t>
            </a:r>
            <a:r>
              <a:rPr lang="en-US" dirty="0"/>
              <a:t> </a:t>
            </a:r>
            <a:r>
              <a:rPr lang="en-US" dirty="0">
                <a:effectLst/>
              </a:rPr>
              <a:t>View</a:t>
            </a:r>
            <a:r>
              <a:rPr lang="en-US" dirty="0"/>
              <a:t> </a:t>
            </a:r>
            <a:r>
              <a:rPr lang="en-US" dirty="0">
                <a:effectLst/>
              </a:rPr>
              <a:t>{</a:t>
            </a:r>
            <a:r>
              <a:rPr lang="en-US" dirty="0"/>
              <a:t> </a:t>
            </a:r>
          </a:p>
          <a:p>
            <a:r>
              <a:rPr lang="en-US" dirty="0">
                <a:effectLst/>
              </a:rPr>
              <a:t>    Text("Hello!")</a:t>
            </a:r>
            <a:r>
              <a:rPr lang="en-US" dirty="0"/>
              <a:t> </a:t>
            </a:r>
          </a:p>
          <a:p>
            <a:r>
              <a:rPr lang="en-US" dirty="0">
                <a:effectLst/>
              </a:rPr>
              <a:t>}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32D6D15-4544-2019-817A-13C77F84CC86}"/>
              </a:ext>
            </a:extLst>
          </p:cNvPr>
          <p:cNvSpPr txBox="1">
            <a:spLocks/>
          </p:cNvSpPr>
          <p:nvPr/>
        </p:nvSpPr>
        <p:spPr>
          <a:xfrm>
            <a:off x="1663908" y="4138359"/>
            <a:ext cx="9293901" cy="1442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4572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9144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13716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18288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285750" indent="-285750" algn="just" hangingPunct="1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nemáš žádnou garance, že „Text →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UILabel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/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NSLabel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“</a:t>
            </a:r>
          </a:p>
          <a:p>
            <a:pPr marL="285750" indent="-285750" algn="just" hangingPunct="1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SwiftUI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 bere Text("Hello!") v runtime samo vybere, jak to na dané platformě vykreslí</a:t>
            </a:r>
          </a:p>
          <a:p>
            <a:pPr marL="285750" indent="-285750" algn="just" hangingPunct="1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někdy přes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UIKit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/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AppKit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, jindy rovnou přes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Core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Animation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 / Metal /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spatial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engine</a:t>
            </a:r>
            <a:endParaRPr lang="cs-CZ" sz="1800" dirty="0">
              <a:solidFill>
                <a:srgbClr val="000000"/>
              </a:solidFill>
              <a:latin typeface="Source Sans Pro Semibold"/>
              <a:ea typeface="Source Sans Pro Semibold"/>
              <a:cs typeface="Source Sans Pro Semibold"/>
              <a:sym typeface="Source Sans Pro Semibold"/>
            </a:endParaRPr>
          </a:p>
          <a:p>
            <a:pPr marL="285750" indent="-285750" algn="just" hangingPunct="1">
              <a:spcBef>
                <a:spcPts val="400"/>
              </a:spcBef>
              <a:buSzPct val="100000"/>
              <a:buFont typeface="Courier New" panose="02070309020205020404" pitchFamily="49" charset="0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lang="cs-CZ" sz="1800" dirty="0">
              <a:solidFill>
                <a:srgbClr val="000000"/>
              </a:solidFill>
              <a:latin typeface="Source Sans Pro Semibold"/>
              <a:ea typeface="Source Sans Pro Semibold"/>
              <a:cs typeface="Source Sans Pro Semibold"/>
              <a:sym typeface="Source Sans Pro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4262854529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3915-552D-C8BA-191C-2AB776369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61917F26-3334-9F97-7E20-DC53EB70D18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 err="1"/>
              <a:t>SwiftUI</a:t>
            </a:r>
            <a:r>
              <a:rPr lang="cs-CZ" dirty="0"/>
              <a:t> – Shrnutí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7A67CAEF-55E8-98C7-C33C-863CDE2EDCA4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8396294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3464" indent="-283464" algn="just" rtl="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cs-CZ" sz="1800" noProof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Moderní deklarativní UI framework, který zjednodušuje kód a zvyšuje přehlednost</a:t>
            </a:r>
          </a:p>
          <a:p>
            <a:pPr marL="283464" indent="-283464" algn="just" rtl="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Snadno se integruje s </a:t>
            </a: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Combine</a:t>
            </a: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 a datovým modelem</a:t>
            </a:r>
          </a:p>
          <a:p>
            <a:pPr marL="283464" indent="-283464" algn="just" rtl="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Postupně nahrazuje </a:t>
            </a: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UIKit</a:t>
            </a: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, ale lze je kombinovat</a:t>
            </a:r>
          </a:p>
          <a:p>
            <a:pPr marL="283464" indent="-283464" algn="just" rtl="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SwiftUI</a:t>
            </a: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 při změně stavu přepočítá </a:t>
            </a: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view</a:t>
            </a: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 strom a aktualizuje UI pomocí </a:t>
            </a: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diffingu</a:t>
            </a:r>
            <a:endParaRPr lang="cs-CZ" sz="1800" noProof="0" dirty="0">
              <a:solidFill>
                <a:srgbClr val="000000"/>
              </a:solidFill>
              <a:effectLst/>
              <a:latin typeface="Source Sans Pro Semibold" panose="020B0503030403020204" pitchFamily="34" charset="0"/>
            </a:endParaRPr>
          </a:p>
          <a:p>
            <a:pPr marL="283464" indent="-283464" algn="just" rtl="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Klíčové jsou stabilní a unikátní identifikátory, zejména u </a:t>
            </a: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ForEach</a:t>
            </a: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 a List</a:t>
            </a:r>
          </a:p>
          <a:p>
            <a:pPr marL="283464" indent="-283464" algn="just" rtl="0" latinLnBrk="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Na rozdíl od </a:t>
            </a: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UIKit</a:t>
            </a: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 se mění jen data, </a:t>
            </a: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SwiftUI</a:t>
            </a: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 </a:t>
            </a:r>
            <a:r>
              <a:rPr lang="cs-CZ" sz="1800" noProof="0" dirty="0" err="1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engine</a:t>
            </a:r>
            <a:r>
              <a:rPr lang="cs-CZ" sz="1800" noProof="0" dirty="0">
                <a:solidFill>
                  <a:srgbClr val="000000"/>
                </a:solidFill>
                <a:effectLst/>
                <a:latin typeface="Source Sans Pro Semibold" panose="020B0503030403020204" pitchFamily="34" charset="0"/>
              </a:rPr>
              <a:t> se stará o aktualizaci UI</a:t>
            </a:r>
            <a:endParaRPr lang="cs-CZ" sz="1800" noProof="0" dirty="0">
              <a:sym typeface="Source Sans Pro Semibold"/>
            </a:endParaRPr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F1C4E113-CFD4-B260-D7E2-93D62A2E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FC55EE0A-8AF5-EB30-9DB5-74422A4A5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F1397124-3EF5-6EE6-A8B5-1E5E8BF0C97D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F5A01531-7A7E-C806-17DC-FFF7CD984E3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 dirty="0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0D7883F-48C5-49B8-CE94-D20C421FEF1D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379603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3042</TotalTime>
  <Words>1378</Words>
  <Application>Microsoft Macintosh PowerPoint</Application>
  <PresentationFormat>Widescreen</PresentationFormat>
  <Paragraphs>194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Courier New</vt:lpstr>
      <vt:lpstr>Source sans Pro</vt:lpstr>
      <vt:lpstr>Source Sans Pro Bold</vt:lpstr>
      <vt:lpstr>Source Sans Pro Semibold</vt:lpstr>
      <vt:lpstr>Office Theme</vt:lpstr>
      <vt:lpstr>Programování mobilních aplikací</vt:lpstr>
      <vt:lpstr>1. SwiftUI - úvod</vt:lpstr>
      <vt:lpstr>1.1 Co je to SwiftUI?</vt:lpstr>
      <vt:lpstr>1.2 Hlavní principy SwiftUI</vt:lpstr>
      <vt:lpstr>2. SwiftUI – hlavní funkce FW</vt:lpstr>
      <vt:lpstr>2.1 SwiftUI – hlavní funkce FW</vt:lpstr>
      <vt:lpstr>2.2 SwiftUI – UI komponenty</vt:lpstr>
      <vt:lpstr>2.3 SwiftUI – Layout systém</vt:lpstr>
      <vt:lpstr>2.4 SwiftUI – Animace a přechody</vt:lpstr>
      <vt:lpstr>2.5 SwiftUI – Navigation &amp; Data Flow</vt:lpstr>
      <vt:lpstr>2.6 SwiftUI – Integrace s UIKit</vt:lpstr>
      <vt:lpstr>2.7 SwiftUI – Přístupnost a lokalizace</vt:lpstr>
      <vt:lpstr>3. SwiftUI – Diffing Algorithm</vt:lpstr>
      <vt:lpstr>3.1 SwiftUI – Diffing Algorithm</vt:lpstr>
      <vt:lpstr>3.2 SwiftUI – proč zrovna Diffing Algorithm?</vt:lpstr>
      <vt:lpstr>3.3 SwiftUI – princip Diffing Algorithm</vt:lpstr>
      <vt:lpstr>3.4 SwiftUI – Diffing Algorithm a role id</vt:lpstr>
      <vt:lpstr>3.4 SwiftUI – Diffing Algorithm a role id</vt:lpstr>
      <vt:lpstr>4. SwiftUI – Runtime Render Decision</vt:lpstr>
      <vt:lpstr>4.1 Rozhodování o vykreslování za běhu</vt:lpstr>
      <vt:lpstr>4.2 Rozhodování o vykreslování za běhu</vt:lpstr>
      <vt:lpstr>SwiftUI – Shrnutí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Mobilní technologie a kyberbezpečnost</dc:title>
  <dc:creator>Christie</dc:creator>
  <cp:lastModifiedBy>Radek Vala</cp:lastModifiedBy>
  <cp:revision>308</cp:revision>
  <dcterms:modified xsi:type="dcterms:W3CDTF">2025-11-20T15:00:20Z</dcterms:modified>
</cp:coreProperties>
</file>