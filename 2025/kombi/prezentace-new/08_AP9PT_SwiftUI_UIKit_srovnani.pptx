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32" r:id="rId2"/>
    <p:sldId id="290" r:id="rId3"/>
    <p:sldId id="291" r:id="rId4"/>
    <p:sldId id="358" r:id="rId5"/>
    <p:sldId id="345" r:id="rId6"/>
    <p:sldId id="359" r:id="rId7"/>
    <p:sldId id="357" r:id="rId8"/>
    <p:sldId id="361" r:id="rId9"/>
    <p:sldId id="362" r:id="rId10"/>
    <p:sldId id="363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ek Vala" initials="RV" lastIdx="10" clrIdx="0">
    <p:extLst>
      <p:ext uri="{19B8F6BF-5375-455C-9EA6-DF929625EA0E}">
        <p15:presenceInfo xmlns:p15="http://schemas.microsoft.com/office/powerpoint/2012/main" userId="S::vala@utb.cz::bb903c5a-e130-4e4a-8840-3b3abc620d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7"/>
    <p:restoredTop sz="94844"/>
  </p:normalViewPr>
  <p:slideViewPr>
    <p:cSldViewPr snapToGrid="0">
      <p:cViewPr varScale="1">
        <p:scale>
          <a:sx n="86" d="100"/>
          <a:sy n="86" d="100"/>
        </p:scale>
        <p:origin x="186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názvu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2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48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58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názvu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73" name="Text úrovně 1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4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600" y="1435101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názvu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8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9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9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názvu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02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0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názvu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Text názvu</a:t>
            </a:r>
          </a:p>
        </p:txBody>
      </p:sp>
      <p:sp>
        <p:nvSpPr>
          <p:cNvPr id="3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4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113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87" y="1463668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itle 1"/>
          <p:cNvSpPr txBox="1">
            <a:spLocks noGrp="1"/>
          </p:cNvSpPr>
          <p:nvPr>
            <p:ph type="ctrTitle"/>
          </p:nvPr>
        </p:nvSpPr>
        <p:spPr>
          <a:xfrm>
            <a:off x="2209800" y="2276873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Programování mobilních aplikací</a:t>
            </a:r>
          </a:p>
        </p:txBody>
      </p:sp>
      <p:sp>
        <p:nvSpPr>
          <p:cNvPr id="11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35579" y="3894587"/>
            <a:ext cx="6400801" cy="53297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/>
              <a:t>iOS – </a:t>
            </a:r>
            <a:r>
              <a:rPr lang="cs-CZ" dirty="0" err="1"/>
              <a:t>SwiftUI</a:t>
            </a:r>
            <a:r>
              <a:rPr lang="cs-CZ" dirty="0"/>
              <a:t> vs </a:t>
            </a:r>
            <a:r>
              <a:rPr lang="cs-CZ" dirty="0" err="1"/>
              <a:t>UIKit</a:t>
            </a:r>
            <a:endParaRPr lang="cs-CZ" dirty="0"/>
          </a:p>
        </p:txBody>
      </p:sp>
      <p:pic>
        <p:nvPicPr>
          <p:cNvPr id="116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Zástupný symbol pro číslo snímku 4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8" name="Obrázek 7" descr="http://www.msmt.cz/uploads/OP_VVV/Pravidla_pro_publicitu/logolinky/Logolink_OP_VVV_hor_barva_cz.jpg">
            <a:extLst>
              <a:ext uri="{FF2B5EF4-FFF2-40B4-BE49-F238E27FC236}">
                <a16:creationId xmlns:a16="http://schemas.microsoft.com/office/drawing/2014/main" id="{A4DC91D2-DB72-8D40-B2F0-6BB9D64019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254" y="0"/>
            <a:ext cx="5759450" cy="127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1</a:t>
            </a:r>
            <a:r>
              <a:rPr dirty="0"/>
              <a:t>. </a:t>
            </a:r>
            <a:r>
              <a:rPr lang="cs-CZ" dirty="0" err="1"/>
              <a:t>SwiftUI</a:t>
            </a:r>
            <a:r>
              <a:rPr lang="cs-CZ" dirty="0"/>
              <a:t> </a:t>
            </a:r>
            <a:r>
              <a:rPr lang="cs-CZ" dirty="0" err="1"/>
              <a:t>x</a:t>
            </a:r>
            <a:r>
              <a:rPr lang="cs-CZ" dirty="0"/>
              <a:t> </a:t>
            </a:r>
            <a:r>
              <a:rPr lang="cs-CZ" dirty="0" err="1"/>
              <a:t>UIKit</a:t>
            </a:r>
            <a:r>
              <a:rPr lang="cs-CZ" dirty="0"/>
              <a:t> -srovnání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30EDBE9E-0C68-41DB-9978-0D694C7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C18FAC-5549-AB40-9C83-8A8980065380}"/>
              </a:ext>
            </a:extLst>
          </p:cNvPr>
          <p:cNvSpPr txBox="1"/>
          <p:nvPr/>
        </p:nvSpPr>
        <p:spPr>
          <a:xfrm>
            <a:off x="2408311" y="6152791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29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1.1 Klíčové rozdíly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102CE2-BE8F-F843-9C8B-184B157377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D2B30B-F543-E6BD-D9E0-33B222753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787143"/>
              </p:ext>
            </p:extLst>
          </p:nvPr>
        </p:nvGraphicFramePr>
        <p:xfrm>
          <a:off x="2145762" y="2125177"/>
          <a:ext cx="7328022" cy="3780948"/>
        </p:xfrm>
        <a:graphic>
          <a:graphicData uri="http://schemas.openxmlformats.org/drawingml/2006/table">
            <a:tbl>
              <a:tblPr/>
              <a:tblGrid>
                <a:gridCol w="2442674">
                  <a:extLst>
                    <a:ext uri="{9D8B030D-6E8A-4147-A177-3AD203B41FA5}">
                      <a16:colId xmlns:a16="http://schemas.microsoft.com/office/drawing/2014/main" val="501539656"/>
                    </a:ext>
                  </a:extLst>
                </a:gridCol>
                <a:gridCol w="2442674">
                  <a:extLst>
                    <a:ext uri="{9D8B030D-6E8A-4147-A177-3AD203B41FA5}">
                      <a16:colId xmlns:a16="http://schemas.microsoft.com/office/drawing/2014/main" val="740573014"/>
                    </a:ext>
                  </a:extLst>
                </a:gridCol>
                <a:gridCol w="2442674">
                  <a:extLst>
                    <a:ext uri="{9D8B030D-6E8A-4147-A177-3AD203B41FA5}">
                      <a16:colId xmlns:a16="http://schemas.microsoft.com/office/drawing/2014/main" val="3864962206"/>
                    </a:ext>
                  </a:extLst>
                </a:gridCol>
              </a:tblGrid>
              <a:tr h="303266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Oblast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SwiftUI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UIKit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225149"/>
                  </a:ext>
                </a:extLst>
              </a:tr>
              <a:tr h="303266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Paradigma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Deklarativní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Imperativní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315586"/>
                  </a:ext>
                </a:extLst>
              </a:tr>
              <a:tr h="104926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Stav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@State, @Binding, @ObservedObject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Delegates, KVO, Notifications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432904"/>
                  </a:ext>
                </a:extLst>
              </a:tr>
              <a:tr h="79360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Layout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HStack, VStack, ZStack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Auto Layout, Constraints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271977"/>
                  </a:ext>
                </a:extLst>
              </a:tr>
              <a:tr h="79360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Produktivita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Méně kódu, Live Preview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Více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kódu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nutnost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sestavení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do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simulátoru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 test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537733"/>
                  </a:ext>
                </a:extLst>
              </a:tr>
              <a:tr h="537947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Kompatibilita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iOS 13+</a:t>
                      </a:r>
                      <a:endParaRPr lang="en-US" sz="160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Široká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zpětná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podpora</a:t>
                      </a:r>
                      <a:endParaRPr lang="en-US" sz="1600" dirty="0">
                        <a:effectLst/>
                        <a:latin typeface="+mj-lt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5494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A6623-8908-F94D-0F3E-77762CC3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C63F1606-9A23-C05A-97F3-0386683E80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4746" y="409564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1.2 Klíčové rozdíly</a:t>
            </a:r>
            <a:endParaRPr dirty="0"/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F6D1C695-B4E7-CC8E-F924-CAC8AA69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A8898400-7B5C-26A1-175E-5901A1FF4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90F336EC-C204-EA4A-19A6-D936102A1931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7009F622-7079-4C00-BA44-A4D10A6F00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9E7D1BD-CBAA-A1B3-BB35-41B51C07BA05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AC1CF6-D552-FCF5-18DD-F2371F214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230" y="1146242"/>
            <a:ext cx="7772400" cy="5527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E93BA-5158-17A7-5CCA-97323E094D71}"/>
              </a:ext>
            </a:extLst>
          </p:cNvPr>
          <p:cNvSpPr txBox="1"/>
          <p:nvPr/>
        </p:nvSpPr>
        <p:spPr>
          <a:xfrm>
            <a:off x="9633028" y="5588883"/>
            <a:ext cx="228698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sendbird.com</a:t>
            </a:r>
            <a:r>
              <a:rPr lang="en-US" sz="1200" dirty="0"/>
              <a:t>/developer/tutorials/</a:t>
            </a:r>
            <a:r>
              <a:rPr lang="en-US" sz="1200" dirty="0" err="1"/>
              <a:t>swiftui</a:t>
            </a:r>
            <a:r>
              <a:rPr lang="en-US" sz="1200" dirty="0"/>
              <a:t>-vs-</a:t>
            </a:r>
            <a:r>
              <a:rPr lang="en-US" sz="1200" dirty="0" err="1"/>
              <a:t>uikit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30557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1.3 Ukázka </a:t>
            </a:r>
            <a:r>
              <a:rPr lang="cs-CZ" dirty="0" err="1"/>
              <a:t>SwiftUI</a:t>
            </a:r>
            <a:r>
              <a:rPr lang="cs-CZ" dirty="0"/>
              <a:t> kódu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102CE2-BE8F-F843-9C8B-184B157377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1F240-AA56-CF66-4CE7-E82D0267E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007" y="2158584"/>
            <a:ext cx="8629041" cy="388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3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5D40-03F5-930E-945C-8B998B51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85D10734-69E6-27EE-E659-D76ED220891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54636" y="699622"/>
            <a:ext cx="2443397" cy="355758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1.4 Ukázka </a:t>
            </a:r>
            <a:r>
              <a:rPr lang="cs-CZ" dirty="0" err="1"/>
              <a:t>UIKit</a:t>
            </a:r>
            <a:r>
              <a:rPr lang="cs-CZ" dirty="0"/>
              <a:t> kódu</a:t>
            </a:r>
            <a:endParaRPr dirty="0"/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06C02420-BDF1-EFD5-756B-20A890D0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394C7150-967F-A2B8-01B4-3BC650BCF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E25836E8-D0FD-B4BC-FB0F-E66678148586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B36DFF8D-1AD5-7B1C-C158-E6EAE7C5EC1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1AC6807-F01E-A6E9-E45B-B57FE35E7DB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9D1B17-7CFD-519B-FA48-3E89BDC0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092" y="609682"/>
            <a:ext cx="7772400" cy="545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499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3915-552D-C8BA-191C-2AB77636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61917F26-3334-9F97-7E20-DC53EB70D1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1.5 Výhody </a:t>
            </a:r>
            <a:r>
              <a:rPr lang="cs-CZ" dirty="0" err="1"/>
              <a:t>x</a:t>
            </a:r>
            <a:r>
              <a:rPr lang="cs-CZ" dirty="0"/>
              <a:t> nevýhody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7A67CAEF-55E8-98C7-C33C-863CDE2EDCA4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1"/>
            <a:ext cx="8396294" cy="108012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b="1" dirty="0" err="1">
                <a:sym typeface="Source Sans Pro Semibold"/>
              </a:rPr>
              <a:t>SwiftUI</a:t>
            </a:r>
            <a:endParaRPr lang="cs-CZ" sz="1800" b="1" dirty="0">
              <a:sym typeface="Source Sans Pro Semibold"/>
            </a:endParaRPr>
          </a:p>
          <a:p>
            <a:pPr algn="l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+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Deklarativní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přístup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méně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kódu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automatické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přizpůsobení</a:t>
            </a:r>
            <a:br>
              <a:rPr lang="en-US" dirty="0"/>
            </a:br>
            <a:r>
              <a:rPr lang="en-US" i="0" u="none" strike="noStrike" dirty="0">
                <a:solidFill>
                  <a:srgbClr val="000000"/>
                </a:solidFill>
                <a:effectLst/>
              </a:rPr>
              <a:t>−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Mladší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framework,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některá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omezení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výkon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u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složitých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UI</a:t>
            </a:r>
            <a:endParaRPr lang="cs-CZ" sz="1800" dirty="0">
              <a:sym typeface="Source Sans Pro Semibold"/>
            </a:endParaRP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F1C4E113-CFD4-B260-D7E2-93D62A2E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FC55EE0A-8AF5-EB30-9DB5-74422A4A5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F1397124-3EF5-6EE6-A8B5-1E5E8BF0C97D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F5A01531-7A7E-C806-17DC-FFF7CD984E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0D7883F-48C5-49B8-CE94-D20C421FEF1D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4A2354A-A148-CCA4-20D5-C8E70A9E6E11}"/>
              </a:ext>
            </a:extLst>
          </p:cNvPr>
          <p:cNvSpPr txBox="1">
            <a:spLocks/>
          </p:cNvSpPr>
          <p:nvPr/>
        </p:nvSpPr>
        <p:spPr>
          <a:xfrm>
            <a:off x="2063550" y="3750208"/>
            <a:ext cx="8396294" cy="1080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4572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9144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13716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18288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just" hangingPunct="1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Výhody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UIKit</a:t>
            </a:r>
            <a:endParaRPr lang="cs-CZ" sz="1800" b="1" dirty="0">
              <a:solidFill>
                <a:srgbClr val="000000"/>
              </a:solidFill>
              <a:latin typeface="Source Sans Pro Semibold"/>
              <a:ea typeface="Source Sans Pro Semibold"/>
              <a:cs typeface="Source Sans Pro Semibold"/>
              <a:sym typeface="Source Sans Pro Semibold"/>
            </a:endParaRPr>
          </a:p>
          <a:p>
            <a:pPr algn="l" hangingPunct="1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+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Stabilita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zralý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ekosystém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kompatibilita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přesná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kontrola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−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Více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boilerplate,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manuální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správa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stavu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pomalejší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vývoj</a:t>
            </a:r>
            <a:endParaRPr lang="cs-CZ" sz="1800" dirty="0">
              <a:solidFill>
                <a:srgbClr val="000000"/>
              </a:solidFill>
              <a:latin typeface="Source Sans Pro Semibold"/>
              <a:ea typeface="Source Sans Pro Semibold"/>
              <a:cs typeface="Source Sans Pro Semibold"/>
              <a:sym typeface="Source Sans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0379603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9591-2FC1-A759-96F3-FEAFE323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65CEF0DD-46A1-C36C-0095-3807BF216B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1.6 Kdy použít </a:t>
            </a:r>
            <a:r>
              <a:rPr lang="cs-CZ" dirty="0" err="1"/>
              <a:t>SwiftUI</a:t>
            </a:r>
            <a:r>
              <a:rPr lang="cs-CZ" dirty="0"/>
              <a:t>?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80ECE7F0-D45F-47FE-AA4E-5C42171CBF90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25978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>
                <a:sym typeface="Source Sans Pro Semibold"/>
              </a:rPr>
              <a:t>Nové projekty (iOS 13+)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>
                <a:sym typeface="Source Sans Pro Semibold"/>
              </a:rPr>
              <a:t>Multiplatformní UI (iOS, </a:t>
            </a:r>
            <a:r>
              <a:rPr lang="cs-CZ" sz="2400" b="1" dirty="0" err="1">
                <a:sym typeface="Source Sans Pro Semibold"/>
              </a:rPr>
              <a:t>iPadOS</a:t>
            </a:r>
            <a:r>
              <a:rPr lang="cs-CZ" sz="2400" b="1" dirty="0">
                <a:sym typeface="Source Sans Pro Semibold"/>
              </a:rPr>
              <a:t>, macOS)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>
                <a:sym typeface="Source Sans Pro Semibold"/>
              </a:rPr>
              <a:t>Důraz na moderní design, animace, čitelnost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dirty="0">
                <a:sym typeface="Source Sans Pro Semibold"/>
              </a:rPr>
              <a:t>Výborné pro rychlé prototypy a středně složité aplikace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328BB490-2A7D-3ECE-14D8-3B2CFBB4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FD3DC523-3231-9419-31FC-5A8FCAF5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1E139762-AD64-4557-397A-7EFEEC630AE8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570C0110-4EA2-35A0-78B2-633AB279DC9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9D87055-6CDB-3E1A-88A5-4D72B58E5D8F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382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40BD-CF6D-21A6-BAAA-A7D19C65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E69F66C4-B1E9-3819-AD19-D784FF95DD8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1.7 Kdy použít </a:t>
            </a:r>
            <a:r>
              <a:rPr lang="cs-CZ" dirty="0" err="1"/>
              <a:t>UIKit</a:t>
            </a:r>
            <a:r>
              <a:rPr lang="cs-CZ" dirty="0"/>
              <a:t>?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3A714C61-16D0-42FF-174E-B543986BD5F0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25978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 err="1">
                <a:sym typeface="Source Sans Pro Semibold"/>
              </a:rPr>
              <a:t>Legacy</a:t>
            </a:r>
            <a:r>
              <a:rPr lang="cs-CZ" sz="2400" b="1" dirty="0">
                <a:sym typeface="Source Sans Pro Semibold"/>
              </a:rPr>
              <a:t> aplikace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>
                <a:sym typeface="Source Sans Pro Semibold"/>
              </a:rPr>
              <a:t>Potřeba podpory starších iOS verzí 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>
                <a:sym typeface="Source Sans Pro Semibold"/>
              </a:rPr>
              <a:t>Složitá logika nebo výkonové optimalizace (Ověřený výkon pro složité a náročné aplikace)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dirty="0">
                <a:sym typeface="Source Sans Pro Semibold"/>
              </a:rPr>
              <a:t>Potřeba plné kontroly nad </a:t>
            </a:r>
            <a:r>
              <a:rPr lang="cs-CZ" sz="2400" dirty="0" err="1">
                <a:sym typeface="Source Sans Pro Semibold"/>
              </a:rPr>
              <a:t>view</a:t>
            </a:r>
            <a:r>
              <a:rPr lang="cs-CZ" sz="2400" dirty="0">
                <a:sym typeface="Source Sans Pro Semibold"/>
              </a:rPr>
              <a:t> hierarchií a animacemi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7D8140F4-05F9-0A6B-75D6-B2B38936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6958346B-9C38-F313-EDAF-DA0E926C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41042960-D536-22CF-78A2-8B21C7C590E8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076B2912-033B-7A80-DA2B-541C7ED9A9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CC1ED27-E0E3-E55B-E4DD-A4CFEA1389FF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53774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5EE4-0E8D-812A-D8B3-0265710C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79E2B326-D61B-C4B6-D8C9-DD4BDADFD2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1.8 Kombinace frameworků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F6CF9A27-49F3-3FF6-9D31-186AA3097472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25978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l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 err="1">
                <a:sym typeface="Source Sans Pro Semibold"/>
              </a:rPr>
              <a:t>SwiftUI</a:t>
            </a:r>
            <a:r>
              <a:rPr lang="cs-CZ" sz="2400" b="1" dirty="0">
                <a:sym typeface="Source Sans Pro Semibold"/>
              </a:rPr>
              <a:t> v </a:t>
            </a:r>
            <a:r>
              <a:rPr lang="cs-CZ" sz="2400" b="1" dirty="0" err="1">
                <a:sym typeface="Source Sans Pro Semibold"/>
              </a:rPr>
              <a:t>UIKit</a:t>
            </a:r>
            <a:r>
              <a:rPr lang="cs-CZ" sz="2400" b="1" dirty="0">
                <a:sym typeface="Source Sans Pro Semibold"/>
              </a:rPr>
              <a:t> → </a:t>
            </a:r>
            <a:r>
              <a:rPr lang="cs-CZ" sz="2400" b="1" dirty="0" err="1">
                <a:sym typeface="Source Sans Pro Semibold"/>
              </a:rPr>
              <a:t>UIHostingController</a:t>
            </a:r>
            <a:endParaRPr lang="cs-CZ" sz="2400" b="1" dirty="0">
              <a:sym typeface="Source Sans Pro Semibold"/>
            </a:endParaRPr>
          </a:p>
          <a:p>
            <a:pPr marL="285750" indent="-285750" algn="l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2400" b="1" dirty="0" err="1">
                <a:sym typeface="Source Sans Pro Semibold"/>
              </a:rPr>
              <a:t>UIKit</a:t>
            </a:r>
            <a:r>
              <a:rPr lang="cs-CZ" sz="2400" b="1" dirty="0">
                <a:sym typeface="Source Sans Pro Semibold"/>
              </a:rPr>
              <a:t> v </a:t>
            </a:r>
            <a:r>
              <a:rPr lang="cs-CZ" sz="2400" b="1" dirty="0" err="1">
                <a:sym typeface="Source Sans Pro Semibold"/>
              </a:rPr>
              <a:t>SwiftUI</a:t>
            </a:r>
            <a:r>
              <a:rPr lang="cs-CZ" sz="2400" b="1" dirty="0">
                <a:sym typeface="Source Sans Pro Semibold"/>
              </a:rPr>
              <a:t> → </a:t>
            </a:r>
            <a:r>
              <a:rPr lang="cs-CZ" sz="2400" b="1" dirty="0" err="1">
                <a:sym typeface="Source Sans Pro Semibold"/>
              </a:rPr>
              <a:t>UIViewRepresentable</a:t>
            </a:r>
            <a:r>
              <a:rPr lang="cs-CZ" sz="2400" b="1" dirty="0">
                <a:sym typeface="Source Sans Pro Semibold"/>
              </a:rPr>
              <a:t> nebo </a:t>
            </a:r>
            <a:r>
              <a:rPr lang="cs-CZ" sz="2400" b="1" dirty="0" err="1">
                <a:sym typeface="Source Sans Pro Semibold"/>
              </a:rPr>
              <a:t>UIViewControllerRepresentable</a:t>
            </a:r>
            <a:r>
              <a:rPr lang="cs-CZ" sz="2400" b="1" dirty="0">
                <a:sym typeface="Source Sans Pro Semibold"/>
              </a:rPr>
              <a:t>.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0939CCC8-A99A-E87B-BDC8-9D785B0C0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D5CDCE9F-C1A1-8CAF-64CC-9F1A5F942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67DC7C8C-872A-B065-5B2C-12A8A17862B8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BE043B86-C72C-05B5-A16D-3A7950786FC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562840C5-34A9-5E2E-1A0E-002980F3ABC9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788699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4086</TotalTime>
  <Words>407</Words>
  <Application>Microsoft Macintosh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-webkit-standard</vt:lpstr>
      <vt:lpstr>Arial</vt:lpstr>
      <vt:lpstr>Calibri</vt:lpstr>
      <vt:lpstr>Courier New</vt:lpstr>
      <vt:lpstr>Source sans Pro</vt:lpstr>
      <vt:lpstr>Source Sans Pro Bold</vt:lpstr>
      <vt:lpstr>Source Sans Pro Semibold</vt:lpstr>
      <vt:lpstr>Office Theme</vt:lpstr>
      <vt:lpstr>Programování mobilních aplikací</vt:lpstr>
      <vt:lpstr>1. SwiftUI x UIKit -srovnání</vt:lpstr>
      <vt:lpstr>1.1 Klíčové rozdíly</vt:lpstr>
      <vt:lpstr>1.2 Klíčové rozdíly</vt:lpstr>
      <vt:lpstr>1.3 Ukázka SwiftUI kódu</vt:lpstr>
      <vt:lpstr>1.4 Ukázka UIKit kódu</vt:lpstr>
      <vt:lpstr>1.5 Výhody x nevýhody</vt:lpstr>
      <vt:lpstr>1.6 Kdy použít SwiftUI?</vt:lpstr>
      <vt:lpstr>1.7 Kdy použít UIKit?</vt:lpstr>
      <vt:lpstr>1.8 Kombinace frameworků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Mobilní technologie a kyberbezpečnost</dc:title>
  <dc:creator>Christie</dc:creator>
  <cp:lastModifiedBy>Radek Vala</cp:lastModifiedBy>
  <cp:revision>305</cp:revision>
  <dcterms:modified xsi:type="dcterms:W3CDTF">2025-11-21T07:20:09Z</dcterms:modified>
</cp:coreProperties>
</file>