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66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Frontální úvod, cca 35 min. Pak přechod na Swift základy (druhá půlka hodiny).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Tady se vyplatí zeptat třídy, kdo už nějakou app psal s AI. Většina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Zdůraznit: ruční psaní není samoúčel. Je to jediný způsob, jak si vybudovat etalon, proti kterému pak agentův výstup poměřujete.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Nejde o to učit Objective-C. Jde o to, aby student poznal, že mu AI podstrčila zastaralý vzor.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Klíčová věta hodiny: View = funkce stavu. Vrátíme se k tomu v přednášce 2b 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Pointa: nepíšete pět různých appek. Píšete jednu a doplníte platformové rozdíly. To si zkusíme v W11.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Halucinované frameworky jsou reálný problém – AI si občas vymyslí API, které zní věrohodně. Kontrola: developer.apple.com/documentation.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Zdůraznit: první čtyři důvody zamítnutí jsou přesně to, co produkuje neověřená AI appka. Souvisí s blokem o tichých chybách.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Zdůraznit: klávesnici ve cvičení máte vy, ne já. Já jen ukazuju smyčku.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Tenhle výstup mám uložený v ai-test-outputs/ – použijeme ho jako cvičení ve Fázi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Pravidlo 1 je v readme.md jako tvrdé pravidlo, ne doporučení.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Přechod: zavřít slidy, otevřít Swift Playground na demo Macu.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Pokročilé mobilní technologie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Zimní semestr 2026/2027  ·  Fakulta aplikované informatiky, UTB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1 – úvod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Tenhle předmět se letos zásadně změnil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se změnilo, co po vás bude chtít praxe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„Studenti v roce 2026 nepíší iOS apps rukou. Píší je s AI agentem.“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3401568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36192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Naučit se číst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988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ručně. AI jen vysvětluje.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až AI vyplivne 50 řádků Swiftu,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poznáte v nich chybu.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71416" y="31546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45736" y="3401568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45736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67528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5736" y="4069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Naučit se zadávat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45736" y="44988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společně s AI.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vědět, CO zadat,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výstup dával smysl.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02752" y="31546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77072" y="3401568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77072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98864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W6–W12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77072" y="4069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Naučit se </a:t>
            </a:r>
            <a:r>
              <a:rPr lang="en-US" sz="1700" b="1" dirty="0" err="1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tvořit</a:t>
            </a: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77072" y="44988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píše AI.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specifikujete, ověřujete,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reviewujete. Jste architekt.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Psaní kódu přestalo být tou vzácnou dovedností. Vzácný je úsudek.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Plán semestru, týden po týdnu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Oranžově zvýrazněné hodiny píšete rukou vy. Ve zbytku píše kód agent a vy ho čtete a ověřujete.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95681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1 – číst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223113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umět přečíst kód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2569464"/>
            <a:ext cx="3191256" cy="420624"/>
          </a:xfrm>
          <a:prstGeom prst="roundRect">
            <a:avLst>
              <a:gd name="adj" fmla="val 10870"/>
            </a:avLst>
          </a:prstGeom>
          <a:solidFill>
            <a:srgbClr val="F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6151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44752" y="26151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základy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0723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44752" y="30723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6: async/await, actors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191256" cy="420624"/>
          </a:xfrm>
          <a:prstGeom prst="roundRect">
            <a:avLst>
              <a:gd name="adj" fmla="val 10870"/>
            </a:avLst>
          </a:prstGeom>
          <a:solidFill>
            <a:srgbClr val="F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4752" y="35295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Manuální SwiftUI základy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71416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95681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 – zadávat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23113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společně s 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36008" y="2569464"/>
            <a:ext cx="3191256" cy="420624"/>
          </a:xfrm>
          <a:prstGeom prst="roundRect">
            <a:avLst>
              <a:gd name="adj" fmla="val 10870"/>
            </a:avLst>
          </a:prstGeom>
          <a:solidFill>
            <a:srgbClr val="F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7448" y="26151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76088" y="26151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Counter: 1. půlka ručně, pak agent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27448" y="30723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76088" y="30723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kalkulačka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27448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76088" y="35295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02752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40496" y="195681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 – architektovat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40496" y="223113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píše agent, vy ověřujete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58784" y="26151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07424" y="26151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58784" y="30723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07424" y="30723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Book: SwiftData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58784" y="35295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07424" y="35295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Dashboard: API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58784" y="39867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07424" y="39867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Tracker: Siri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58784" y="44439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07424" y="44439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Journal: AI v zařízení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58784" y="49011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07424" y="49011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4 systémy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58784" y="53583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07424" y="5358384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a distribuce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" y="58978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EDE9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05840" y="58704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rukou vy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931920" y="5870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Rukou píšete jen ve W1, W2b a první půlce W3. Zbytek semestru zadáváte a ověřujete – a to je ta těžší část.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Jazyk: Objective-C  →  Swift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Obojí potkáte – starší projekty a StackOverflow jsou pořád plné Objective-C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Objective-C  (1984, dodnes v legacy kódu)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51023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NSMutableArray *names =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[[NSMutableArray alloc] init];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[names addObject:@"Anna"];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NSString *first = [names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objectAtIndex:0];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NSLog(@"%@", first);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79008" y="2651760"/>
            <a:ext cx="658368" cy="65836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 (2014, dnešní standard)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2139696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12121C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75704" y="2267712"/>
            <a:ext cx="46451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names = ["Anna"]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names[0]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print(first)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8229600" y="-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Téma        Objective-C        Swift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ukazatele, snadný pád na nil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114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optionals – kompilátor vás nutí nil ošetřit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Ukecanost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4572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hlavičky .h + .m, hranaté závorky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jeden soubor, typy se odvodí samy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Souběžnost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5029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ruční GCD, data races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5029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async/await, Swift 6 hlídá data races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vás prakticky: když vám AI nabídne kód s hranatými závorkami a NSString, je zastaralý. Chtějte Swift.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UIKit / AppKit  →  SwiftUI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jiná syntaxe – jiný způsob uvažování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4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IMPERATIVNĚ  –  říkám JAK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459736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label = UILabel()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label.text = "Počet: 0"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view.addSubview(label)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při každé změně musím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label sám najít a přepsat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label.text = "Počet: \(count)"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29400" y="17830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DEKLARATIVNĚ  –  říkám 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29400" y="2331720"/>
            <a:ext cx="4937760" cy="1828800"/>
          </a:xfrm>
          <a:prstGeom prst="roundRect">
            <a:avLst>
              <a:gd name="adj" fmla="val 3000"/>
            </a:avLst>
          </a:prstGeom>
          <a:solidFill>
            <a:srgbClr val="12121C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75704" y="2459736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count = 0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body: some View 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Text("Počet: \(count)")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změním count → SwiftUI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překreslí samo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= funkce stavu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Nepopisujete kroky, popisujete výsledek. „Jak má obrazovka vypadat, když data vypadají takhle?“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stavu → body se přepočítá → UI se aktualizuje. Vy s prvky nehýbete ručně.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UIKit/AppKit nezmizel – velké appky ho pořád mají. Nové obrazovky ale píšeme v SwiftUI a tenhle kurz jede jen SwiftUI.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 vlastně tu appku píšete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systémů, jeden jazyk, jeden UI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20824" cy="1600200"/>
          </a:xfrm>
          <a:prstGeom prst="roundRect">
            <a:avLst>
              <a:gd name="adj" fmla="val 4571"/>
            </a:avLst>
          </a:prstGeom>
          <a:solidFill>
            <a:srgbClr val="1D1D2E"/>
          </a:solidFill>
          <a:ln w="12700">
            <a:solidFill>
              <a:srgbClr val="1D1D2E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20299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/ iPadOS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3230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iPad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těžiště kurzu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62072" y="1828800"/>
            <a:ext cx="2020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20299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243230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8803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– menu commands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2020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85232" y="20299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85232" y="243230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28803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– read-only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06056" y="1828800"/>
            <a:ext cx="2020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07224" y="20299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07224" y="243230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07224" y="28803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– ornaments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28048" y="1828800"/>
            <a:ext cx="20208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29216" y="20299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29216" y="2432304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29216" y="28803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kurz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3858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mají společné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422452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jazyk – Swift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UI framework – SwiftUI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Xcode, stejný účet, stejný App Store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Sdílený model a logika; liší se hlavně vrstva UI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370332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3858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Číslování verzí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422452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roku 2025 mají všechny systémy stejné číslo podle roku: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26, macOS 26, watchOS 26, visionOS 26.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kurzu cílíme na iOS 17+ (kvůli SwiftData), novinky ukazujeme na iOS 26.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Frameworky, které letos potkáte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jich má stovky – tohle je výběr, který v kurzu opravdu použijeme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04825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20482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Rozhraní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8895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deklarativní UI – celý kurz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3924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/ AppKit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3675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starší, jen pro čtení cizího kódu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417880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WidgetKit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44622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widgety na plochu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71416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204825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0482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260604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27448" y="28895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perzistence – W7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7448" y="33924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27448" y="3675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předchůdce, v legacy projektech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7448" y="417880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27448" y="44622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mezi zařízeními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02752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0496" y="204825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40496" y="20482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 integrace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58784" y="2606040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58784" y="28895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přímo v zařízení – W10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58784" y="3392424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58784" y="3675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a Zkratky – W9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58784" y="417880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558784" y="44622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modely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285232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5285232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Nemusíte je umět nazpaměť. Musíte vědět, že existují – abyste poznali, když vám AI vymyslí framework, který Apple nikdy nevydal.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se appka dostane k lidem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je jediná cesta – a je to cesta přes kontrolu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436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182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Xcode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92908" y="2121408"/>
            <a:ext cx="155448" cy="29260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57500" y="1828800"/>
            <a:ext cx="20436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67228" y="1828800"/>
            <a:ext cx="182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10328" y="2121408"/>
            <a:ext cx="155448" cy="29260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20436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84648" y="1828800"/>
            <a:ext cx="182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(beta testeři)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27748" y="2121408"/>
            <a:ext cx="155448" cy="29260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92340" y="1828800"/>
            <a:ext cx="204368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2068" y="1828800"/>
            <a:ext cx="182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Review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(kontrola u Apple)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45168" y="2121408"/>
            <a:ext cx="155448" cy="29260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09760" y="1828800"/>
            <a:ext cx="2043684" cy="868680"/>
          </a:xfrm>
          <a:prstGeom prst="roundRect">
            <a:avLst>
              <a:gd name="adj" fmla="val 8421"/>
            </a:avLst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19488" y="1828800"/>
            <a:ext cx="18242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App Store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5623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182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potřebujete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5661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Program – 99 USD ročně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– povinný, popisuje sběr dat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 – co o uživateli sbíráte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Screenshoty, popis, ikona, věkové hodnocení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Funkční build bez pádů a bez rozdělaných částí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30175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3182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appky Apple zamítá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356616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Pády a viditelné chyby při kontrole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obsah („Lorem ipsum“, prázdné obrazovky)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Chybějící zásady ochrany osobních údajů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neodpovídá tomu, co appka dělá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Nefunkční odkazy nebo testovací účet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obvykle trvá řádově hodiny až dny. V W12 si celý proces projdeme až po TestFlight – publikovat do Storu nebudete muset.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budeme na cvičení pracovat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kroky, každý týden stejné. Kód píše agent, vy rozhodujete a ověřujete.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03120"/>
            <a:ext cx="512064" cy="512064"/>
          </a:xfrm>
          <a:prstGeom prst="ellipse">
            <a:avLst/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Píšete specifikaci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346704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min. PRD a hlavně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akceptační kritéria: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musí platit a JAK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ověříte. Tohle je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dneska ta práce.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3200400"/>
            <a:ext cx="182880" cy="38404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57016" y="187452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1D1D2E"/>
          </a:solidFill>
          <a:ln w="12700">
            <a:solidFill>
              <a:srgbClr val="1D1D2E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13048" y="210312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1304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13048" y="276148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Generuju na plátně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3048" y="3346704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min. Jedna živá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generace, celé PRD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jedním promptem.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smyčku: zadání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kód → chyba → oprava.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3200400"/>
            <a:ext cx="182880" cy="38404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73952" y="187452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9984" y="2103120"/>
            <a:ext cx="512064" cy="512064"/>
          </a:xfrm>
          <a:prstGeom prst="ellipse">
            <a:avLst/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998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9984" y="276148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Stáhnete z GitHubu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9984" y="3346704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clone, ⌘R.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Začínáte z běžícího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kódu, ne z chybové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hlášky.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9720" y="3200400"/>
            <a:ext cx="182880" cy="384048"/>
          </a:xfrm>
          <a:prstGeom prst="chevron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90888" y="1874520"/>
            <a:ext cx="2697480" cy="3063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101600" dist="25400" dir="5400000" algn="bl" rotWithShape="0">
              <a:srgbClr val="B0B0C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46920" y="2103120"/>
            <a:ext cx="512064" cy="512064"/>
          </a:xfrm>
          <a:prstGeom prst="ellipse">
            <a:avLst/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4692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46920" y="276148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Zbytek hodiny je váš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6920" y="3346704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min. Ověřujete proti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kritériím, zkoušíte to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rozbít, opravujete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nalezené, píšete review.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138928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FF1EE"/>
          </a:solidFill>
          <a:ln w="12700">
            <a:solidFill>
              <a:srgbClr val="F051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generuju já, a ne každý sám?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596128"/>
            <a:ext cx="10271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Protože osm minut stačí na jednu generaci na plátně, ne na sedmdesát zvlášť. A hlavně: hotová appka ukáže výsledek, ale ne postup – a postup je to, co se tu učíte. Zbylých 59 minut pak pracujete každý sám.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Největší riziko: tiché chyby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ty, které Xcode podtrhne červeně – ty najdete vždycky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23560" cy="3200400"/>
          </a:xfrm>
          <a:prstGeom prst="roundRect">
            <a:avLst>
              <a:gd name="adj" fmla="val 2286"/>
            </a:avLst>
          </a:prstGeom>
          <a:solidFill>
            <a:srgbClr val="2A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Reálný případ (červenec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znělo:  „Udělej weather app.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8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Historii ulož přes SwiftData.“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889504"/>
            <a:ext cx="5074920" cy="13716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0704" y="3017520"/>
            <a:ext cx="47823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SwiftData      // ← je tam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WeatherViewModel {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@Published var history: [Weather] = []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// ← ale data žijí TADY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370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vrátil hezčí kód než všechny menší modely. A přesto to bylo špatně.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938528"/>
            <a:ext cx="237744" cy="237744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5916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Přeložilo se – bez chyby i varování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414016"/>
            <a:ext cx="237744" cy="237744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9168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Naběhlo a vypadalo profesionálně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2889504"/>
            <a:ext cx="237744" cy="237744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59168" y="2825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se plnila a zobrazovala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3364992"/>
            <a:ext cx="237744" cy="237744"/>
          </a:xfrm>
          <a:prstGeom prst="ellipse">
            <a:avLst/>
          </a:prstGeom>
          <a:solidFill>
            <a:srgbClr val="FF4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59168" y="3300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@Model, @Query ani modelContainer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840480"/>
            <a:ext cx="237744" cy="237744"/>
          </a:xfrm>
          <a:prstGeom prst="ellipse">
            <a:avLst/>
          </a:prstGeom>
          <a:solidFill>
            <a:srgbClr val="FF4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59168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restartu byla historie pryč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44348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4553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„import SwiftData“ byl dekorace.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956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kontroluje typy, ne záměr.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„Ulož to natrvalo“ není typ.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Čím lepší model, tím tišší chyba. Menší modely psaly kód, který se ani nepřeložil – to poznáte hned.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se tichým chybám bránit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návyky, které platí celý semestr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12264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12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4208" y="19293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Přečti diff. Bez výjimky.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2313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nepřečte, co mu AI napsala, dostane horší známku – i když to funguje.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review write-upu musíte umět popsat, co kód dělá a proč.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10911535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2688" y="3410712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3410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64208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Ověřuj proti zadání, ne proti kompilátoru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64208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„Přeložilo se“ neznamená „splňuje to zadání“. U každé funkce si předem napište,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ji ověříte – a pak to opravdu naklikejte.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79976"/>
            <a:ext cx="10911535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blurRad="88900" dist="25400" dir="5400000" algn="bl" rotWithShape="0">
              <a:srgbClr val="B0B0C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4709160"/>
            <a:ext cx="512064" cy="51206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4709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64208" y="4526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ukládání dat vždycky restartuj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64208" y="49103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Appku zabijte (⌘⇧H → swipe nahoru v app switcheru) a otevřete znovu.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Zastavit build v Xcode NENÍ restart – jen odpojí debugger.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779008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1D1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577900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který najde a zdokumentuje chybu, je na tom líp než ten, komu prošla nepovšimnutá.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F0513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Druhá půlka hodiny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základy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Abyste uměli přečíst, co vám AI napíše, musíte znát jazyk. Dnes projdeme: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" y="370332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35844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vs. var, typy a odvození typu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" y="406908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9502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Optionals – if let, guard let, ?? (a proč je ! antipattern)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" y="443484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43159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Funkce, parametry, default values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4088" y="480060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vs. class – value vs. reference semantics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088" y="516636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" y="50474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Kontrolní toky, kolekce, map / filter / reduce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088" y="5532120"/>
            <a:ext cx="100584" cy="100584"/>
          </a:xfrm>
          <a:prstGeom prst="ellipse">
            <a:avLst/>
          </a:prstGeom>
          <a:solidFill>
            <a:srgbClr val="F051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4128" y="54132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a vyčerpávající switch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32520" y="306324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2A2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0684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Režim Fáze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6118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Píšete ručně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Playgroundu.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používáte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webu a jen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vysvětlování –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na psaní kódu.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1745</Words>
  <Application>Microsoft Macintosh PowerPoint</Application>
  <PresentationFormat>Widescreen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úvod</dc:title>
  <dc:subject>PptxGenJS Presentation</dc:subject>
  <dc:creator>Filip Vabroušek</dc:creator>
  <cp:lastModifiedBy>Věra VABROUŠKOVÁ</cp:lastModifiedBy>
  <cp:revision>2</cp:revision>
  <dcterms:created xsi:type="dcterms:W3CDTF">2026-07-25T14:25:12Z</dcterms:created>
  <dcterms:modified xsi:type="dcterms:W3CDTF">2026-07-27T19:52:21Z</dcterms:modified>
</cp:coreProperties>
</file>