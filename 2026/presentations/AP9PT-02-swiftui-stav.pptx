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Spojuje plán W2b (manuální SwiftUI) a W3 (Counter). Přednáška 29. 9. neproběhla, W2 (concurrency) je odložený na W8.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Říct nahlas, proč se W2 posunul: bez sítě nemá async/await na čem stát.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Napsat obě varianty živě ve VStack na canvasu. Ne jen ukázat slide. Kontrolní otázka do třídy: proč je A větší?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funguje uvnitř body, protože body staví ViewBuilder (umí if, if/else, switch). Ternární operátor na změnu hodnoty, if na celé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Pak záměrná chyba: ručně vložit count += "1", build, error, nechat agenta opravit. Diskuse: rozumíme, PROČ to bylo špatně?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Kód: W03-State/monday-sk-2/GuessCircleGame.swift (5. 10.). Nejdřív nechat třídu hledat sama, teprve pak odkrýt body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Snímky ze simulátoru (iPhone 17 Pro, iOS 27), kód z W03-State/monday-sk-2 beze změny, jen pevný počáteční stav. Oprava: hlášku nechat v layoutu a schovávat přes .opacity, nebo jí rezervovat místo.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SwiftUI: od layoutu ke stavu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2  ·  6. 10.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části a uprostřed jeden zlom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ručně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Deklarativní model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body, some View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Button, Label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Stacky a Spacer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Modifiery: pořadí záleží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 ručně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 a counter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nestačí obyčejná var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Podmíněné zobrazení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vs. .opacity(0)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ruční úloha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Zlom: agent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zadání dostane agent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Porovnání s vaším řešením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hry GuessCircle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„read the diff“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6 concurrency (async/await, Codable) přesouváme na W8 Weather, kde ho opravdu použijete.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Imperativně vs. deklarativně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není nová syntaxe, je to nový mentální model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UIKit: řeknete JAK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49377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label = UILabel()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label.text = "Počet: 0"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view.addSubview(label)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při každé změně ručně: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+= 1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label.text = "Počet: \(count)"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SwiftUI: popíšete 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28232" y="224028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386584"/>
            <a:ext cx="49377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Text("Počet: \(count)")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při změně count se body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přepočítá samo – label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nikde nehledáte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už není „klikni sem a změň tamto“, ale „co má být na obrazovce, když data vypadají takhle?“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je funkce stavu.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 řídí obraz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Celá deklarativní smyčka na jednom obrázku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434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Text("Počet: 3")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210312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0A84F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Obrazovka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Počet: 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86200" y="2834640"/>
            <a:ext cx="411480" cy="914"/>
          </a:xfrm>
          <a:prstGeom prst="line">
            <a:avLst/>
          </a:prstGeom>
          <a:noFill/>
          <a:ln w="31750">
            <a:solidFill>
              <a:srgbClr val="1D1D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2834640"/>
            <a:ext cx="411480" cy="914"/>
          </a:xfrm>
          <a:prstGeom prst="line">
            <a:avLst/>
          </a:prstGeom>
          <a:noFill/>
          <a:ln w="31750">
            <a:solidFill>
              <a:srgbClr val="1D1D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72600" y="3611880"/>
            <a:ext cx="914" cy="100584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4617720"/>
            <a:ext cx="7040880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331720" y="3611880"/>
            <a:ext cx="914" cy="100584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0" y="434340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 tapne „+“  →  count =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nikdy neměníte obrazovku. Měníte stav – a SwiftUI znovu zavolá body.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View, body a some 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Nejmenší SwiftUI obrazovka má pět řádků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120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SwiftUI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HelloView: View {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Text("Ahoj, AP9PT")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#Preview { HelloView() 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780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je protokol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7804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obrazovka i komponenta je struct, který ho splňuje.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27432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je computed property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ji volá znovu pokaždé, když se změní stav.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3657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View = opaque type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78040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konkrétní typ, který nemusíte vypisovat. Složené view mají typy na půl obrazovky.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45720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#Preview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78040" y="4892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Živý náhled v canvasu. Změníte text a hned ho vidíte.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view nikdy nevoláte body sami. Jen popíšete, co má vracet.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Čtyři stavební bloky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nimi postavíte většinu obrazovek v kurzu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2743200" cy="1508760"/>
          </a:xfrm>
          <a:prstGeom prst="roundRect">
            <a:avLst>
              <a:gd name="adj" fmla="val 3030"/>
            </a:avLst>
          </a:prstGeom>
          <a:solidFill>
            <a:srgbClr val="12121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Text("Nadpis")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.font(.title)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.bold()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947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94760" y="24963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Řetězec, interpolace \(…), i Markdown.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28232" y="1783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965960"/>
            <a:ext cx="2743200" cy="1508760"/>
          </a:xfrm>
          <a:prstGeom prst="roundRect">
            <a:avLst>
              <a:gd name="adj" fmla="val 3030"/>
            </a:avLst>
          </a:prstGeom>
          <a:solidFill>
            <a:srgbClr val="12121C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0574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Image(systemName: "star.fill")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8291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+ SF Symbols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82912" y="24963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Tisíce vestavěných ikon zdarma. Aplikace SF Symbols je ukáže.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2743200" cy="1508760"/>
          </a:xfrm>
          <a:prstGeom prst="roundRect">
            <a:avLst>
              <a:gd name="adj" fmla="val 3030"/>
            </a:avLst>
          </a:prstGeom>
          <a:solidFill>
            <a:srgbClr val="12121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0624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Button("Klikni")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print("klik")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94760" y="46451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Titulek a closure, která se spustí po tapu.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28232" y="39319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114800"/>
            <a:ext cx="2743200" cy="1508760"/>
          </a:xfrm>
          <a:prstGeom prst="roundRect">
            <a:avLst>
              <a:gd name="adj" fmla="val 3030"/>
            </a:avLst>
          </a:prstGeom>
          <a:solidFill>
            <a:srgbClr val="12121C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420624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Label("Oblíbené",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systemImage: "heart")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82912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82912" y="46451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 ikona v jednom. Seznamy a menu ho zarovnají samy.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Layout: tři stacky a Spacer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vrací jedno view – víc prvků potřebuje kontejner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sebe (sloupec)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85900" y="297180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6A493"/>
          </a:solidFill>
          <a:ln/>
        </p:spPr>
      </p:sp>
      <p:sp>
        <p:nvSpPr>
          <p:cNvPr id="8" name="Shape 6"/>
          <p:cNvSpPr/>
          <p:nvPr/>
        </p:nvSpPr>
        <p:spPr>
          <a:xfrm>
            <a:off x="1485900" y="3630168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05138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" y="4288536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B8371F"/>
          </a:solidFill>
          <a:ln/>
        </p:spPr>
      </p:sp>
      <p:sp>
        <p:nvSpPr>
          <p:cNvPr id="10" name="Shape 8"/>
          <p:cNvSpPr/>
          <p:nvPr/>
        </p:nvSpPr>
        <p:spPr>
          <a:xfrm>
            <a:off x="4471416" y="17830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45736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45736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vedle sebe (řádek)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14316" y="3246120"/>
            <a:ext cx="868680" cy="1371600"/>
          </a:xfrm>
          <a:prstGeom prst="roundRect">
            <a:avLst>
              <a:gd name="adj" fmla="val 5263"/>
            </a:avLst>
          </a:prstGeom>
          <a:solidFill>
            <a:srgbClr val="F6A4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4436" y="3246120"/>
            <a:ext cx="868680" cy="1371600"/>
          </a:xfrm>
          <a:prstGeom prst="roundRect">
            <a:avLst>
              <a:gd name="adj" fmla="val 5263"/>
            </a:avLst>
          </a:prstGeom>
          <a:solidFill>
            <a:srgbClr val="F051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734556" y="3246120"/>
            <a:ext cx="868680" cy="1371600"/>
          </a:xfrm>
          <a:prstGeom prst="roundRect">
            <a:avLst>
              <a:gd name="adj" fmla="val 5263"/>
            </a:avLst>
          </a:prstGeom>
          <a:solidFill>
            <a:srgbClr val="B8371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2752" y="17830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77072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ZStack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7072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sebe (do hloubky)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7132" y="2971800"/>
            <a:ext cx="1463040" cy="1280160"/>
          </a:xfrm>
          <a:prstGeom prst="roundRect">
            <a:avLst>
              <a:gd name="adj" fmla="val 3571"/>
            </a:avLst>
          </a:prstGeom>
          <a:solidFill>
            <a:srgbClr val="F6A493"/>
          </a:solidFill>
          <a:ln/>
        </p:spPr>
      </p:sp>
      <p:sp>
        <p:nvSpPr>
          <p:cNvPr id="20" name="Shape 18"/>
          <p:cNvSpPr/>
          <p:nvPr/>
        </p:nvSpPr>
        <p:spPr>
          <a:xfrm>
            <a:off x="9349740" y="3264408"/>
            <a:ext cx="1463040" cy="1280160"/>
          </a:xfrm>
          <a:prstGeom prst="roundRect">
            <a:avLst>
              <a:gd name="adj" fmla="val 3571"/>
            </a:avLst>
          </a:prstGeom>
          <a:solidFill>
            <a:srgbClr val="F05138"/>
          </a:solidFill>
          <a:ln/>
        </p:spPr>
      </p:sp>
      <p:sp>
        <p:nvSpPr>
          <p:cNvPr id="21" name="Shape 19"/>
          <p:cNvSpPr/>
          <p:nvPr/>
        </p:nvSpPr>
        <p:spPr>
          <a:xfrm>
            <a:off x="9642348" y="3557016"/>
            <a:ext cx="1463040" cy="1280160"/>
          </a:xfrm>
          <a:prstGeom prst="roundRect">
            <a:avLst>
              <a:gd name="adj" fmla="val 3571"/>
            </a:avLst>
          </a:prstGeom>
          <a:solidFill>
            <a:srgbClr val="B8371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349240"/>
            <a:ext cx="6766560" cy="1097280"/>
          </a:xfrm>
          <a:prstGeom prst="roundRect">
            <a:avLst>
              <a:gd name="adj" fmla="val 5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95544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VStack(alignment: .leading, spacing: 8) { …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 { Text("Vlevo"); Spacer(); Text("Vpravo") 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54406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Spacer() zabere všechno volné místo a roztlačí sousedy od sebe.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Stacky dohromady: profilová kartička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Tohle napíšete ve cvičení rukou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886200"/>
          </a:xfrm>
          <a:prstGeom prst="roundRect">
            <a:avLst>
              <a:gd name="adj" fmla="val 141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 {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Image(systemName: "person.circle")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.font(.largeTitle)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VStack(alignment: .leading) {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Text("Filip").bold()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Text("iOS student")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.foregroundStyle(.secondary)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Spacer()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.padding()</a:t>
            </a:r>
            <a:endParaRPr lang="en-US" sz="1350" dirty="0"/>
          </a:p>
        </p:txBody>
      </p:sp>
      <p:pic>
        <p:nvPicPr>
          <p:cNvPr id="6" name="Image 0" descr="/Users/filipvabrousek/AP9PT-main/2026/slides/img/02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103120"/>
            <a:ext cx="3959352" cy="18385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2103120"/>
            <a:ext cx="3959352" cy="1838505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41148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Spacer() → obsah drží vlevo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5257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Snímek: simulátor iPhone 17 Pro, iOS 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Zkuste Spacer() smazat: kartička se zcentruje. AI na něj zapomíná často.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 view nemění, ale obalí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modifier vrátí nové view, které to předchozí zabalí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20824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Text("A")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.padding()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.background(.blue)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Řetězec se čte shora dolů. Každý další řádek je o vrstvu dál.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pořadí mění výsledek – viz další slide.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4937760" cy="3840480"/>
          </a:xfrm>
          <a:prstGeom prst="roundRect">
            <a:avLst>
              <a:gd name="adj" fmla="val 1905"/>
            </a:avLst>
          </a:prstGeom>
          <a:solidFill>
            <a:srgbClr val="0A84FF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.background(.blue)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2468880"/>
            <a:ext cx="3840480" cy="2743200"/>
          </a:xfrm>
          <a:prstGeom prst="roundRect">
            <a:avLst>
              <a:gd name="adj" fmla="val 2000"/>
            </a:avLst>
          </a:prstGeom>
          <a:solidFill>
            <a:srgbClr val="5AA9FF"/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60920" y="2587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.padding()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338328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Text("A")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Pořadí záleží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dva modifiery, dva různé výsledky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57984"/>
            <a:ext cx="24688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Text("A")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.padding()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.background(.blue)</a:t>
            </a:r>
            <a:endParaRPr lang="en-US" sz="1300" dirty="0"/>
          </a:p>
        </p:txBody>
      </p:sp>
      <p:pic>
        <p:nvPicPr>
          <p:cNvPr id="7" name="Image 0" descr="/Users/filipvabrousek/AP9PT-main/2026/slides/img/02/ord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011680"/>
            <a:ext cx="1783080" cy="1783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2011680"/>
            <a:ext cx="1783080" cy="178308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50876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Modrá je větší než text: padding je uvnitř pozadí.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28232" y="178308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56832" y="201168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9712" y="2157984"/>
            <a:ext cx="24688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Text("B")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.background(.blue)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.padding()</a:t>
            </a:r>
            <a:endParaRPr lang="en-US" sz="1300" dirty="0"/>
          </a:p>
        </p:txBody>
      </p:sp>
      <p:pic>
        <p:nvPicPr>
          <p:cNvPr id="14" name="Image 1" descr="/Users/filipvabrousek/AP9PT-main/2026/slides/img/02/order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2011680"/>
            <a:ext cx="178308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720072" y="2011680"/>
            <a:ext cx="1783080" cy="178308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683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296912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Modrá těsně kolem textu, padding je venku a průhledný.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" y="5257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Snímky: simulátor iPhone 17 Pro, iOS 27. Padding u B je na snímku neviditelný – a přesto tam je.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Přesně tuhle chybu budete od dnešní druhé půlky hledat v kódu od agenta.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 ručně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kód, který v tomhle kurzu napíšete sami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@State: counter z hlavy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Tohle musíte umět napsat bez nápovědy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4526280"/>
          </a:xfrm>
          <a:prstGeom prst="roundRect">
            <a:avLst>
              <a:gd name="adj" fmla="val 121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035040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CounterView: View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count = 0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VStack(spacing: 16)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Text("Count: \(count)")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.font(.largeTitle)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HStack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Button("−") { count -= 1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Button("+") { count += 1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.font(.title)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Button("Reset") { count = 0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6092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1847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22677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drží hodnotu mimo struct. SwiftUI ji spravuje, takže přežije každé přepočítání body.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33101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3749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patří jen tomuhle view. Zvenčí do něj nikdo nesahá.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47914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0" y="48097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+=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52303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stavu → SwiftUI znovu zavolá body → nový text na obrazovce.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nestačí obyčejná var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je struct a body se volá pořád dokola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bez @State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CounterView: View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count = 0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Button("+") { count += 1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Překladač: Cannot assign to property: 'self' is immutable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 @State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28232" y="2240280"/>
            <a:ext cx="5303520" cy="2011680"/>
          </a:xfrm>
          <a:prstGeom prst="roundRect">
            <a:avLst>
              <a:gd name="adj" fmla="val 2727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2386584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CounterView: View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count = 0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Button("+") { count += 1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4389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 žije mimo struct. Změna ji uloží a řekne SwiftUI, že má body přepočítat.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je neměnný a body se volá znovu. Bez @State by se změna ztratila – proto ji překladač zakáže.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Podmíněné zobrazení: if vs. .opacity(0)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neexistuje × view je neviditelné, ale zabírá místo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9464"/>
            <a:ext cx="2971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isVisible {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Text("Ahoj")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8" name="Image 0" descr="/Users/filipvabrousek/AP9PT-main/2026/slides/img/02/ifHid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011680"/>
            <a:ext cx="1371600" cy="144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2011680"/>
            <a:ext cx="1371600" cy="144720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isVisible = false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977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 hierarchii není. Layout se stáhne a prvky pod ním poskočí nahoru.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28232" y="17830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02552" y="1938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.opacity(0) / .hidden()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702552" y="24231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85432" y="2569464"/>
            <a:ext cx="2971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Text("Ahoj")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.opacity(isVisible ? 1 : 0)</a:t>
            </a:r>
            <a:endParaRPr lang="en-US" sz="1150" dirty="0"/>
          </a:p>
        </p:txBody>
      </p:sp>
      <p:pic>
        <p:nvPicPr>
          <p:cNvPr id="16" name="Image 1" descr="/Users/filipvabrousek/AP9PT-main/2026/slides/img/02/opacityHid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2011680"/>
            <a:ext cx="1371600" cy="144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177272" y="2011680"/>
            <a:ext cx="1371600" cy="144720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85832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isVisible = false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02552" y="3977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tam je, jen průhledné. Místo zůstane a nic neposkakuje.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0080" y="53492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Snímky: stejný kód v simulátoru (iPhone 17 Pro, iOS 27) – vlevo se tlačítko přisunulo k nadpisu, vpravo zůstala díra.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Nesprávná volba = poskakující rozhraní. Kompilátor ji nenahlásí.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Poslední ruční úloha kurzu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minut, bez AI, rovnou v canvasu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hodnoty 5 ukažte pod counterem „Hodně!“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teď neřídí jen text, ale i to, jestli nějaké view vůbec existuje.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Rozhodněte sami: if, nebo .opacity? A proč?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D1D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51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 hláška posunout tlačítka, nebo ne?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42519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D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4251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stane po Reset?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42519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251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když půjdete do záporných čísel?</a:t>
            </a:r>
            <a:endParaRPr lang="en-US" sz="1500" dirty="0"/>
          </a:p>
        </p:txBody>
      </p:sp>
      <p:pic>
        <p:nvPicPr>
          <p:cNvPr id="15" name="Image 0" descr="/Users/filipvabrousek/AP9PT-main/2026/slides/img/02/counte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783080"/>
            <a:ext cx="2724912" cy="264879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823960" y="1783080"/>
            <a:ext cx="2724912" cy="2648797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41080" y="45537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takhle to má vypadat při 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chvíli dostane stejné zadání agent. Vaše řešení bude to, proti kterému ho porovnáme.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Zlom: klávesnici přebírá agent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teď kód zadáváte a kontrolujete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jste to první hodinu psali rukou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Víte, jak vypadá správné řešení. Teď ho máte s čím porovnat.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 ručního řešení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vypadá rozumně a app běží.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Schválíte ho.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Nevíte, co jste schválili.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28232" y="178308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ručním řešením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48272" y="2560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porovnáte řádek po řádku.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Vidíte, kde agent zvolil jinak.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Umíte říct, jestli je to lepší, nebo horší.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93776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„Bez první půlky hodiny by druhá byla kouzelnický trik. S ní je to review.“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Živě: stejné zadání dostane agent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 Xcode, promítáno. Nic neschvalujeme, dokud to nepřečteme.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Zadání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760720" cy="3108960"/>
          </a:xfrm>
          <a:prstGeom prst="roundRect">
            <a:avLst>
              <a:gd name="adj" fmla="val 1765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53949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@State variable count of type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starting at 0. Show it as large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 Below it: + and − buttons side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side, and a Reset button that sets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back to 0. From 5 upwards, show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message "Hodně!" under the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klikneme na Accept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1228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 private var, nebo jen @State var?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286207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8620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Tlačítka v HStack? Jak jste to měli vy?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12280" y="34838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34838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Hláška přes if, nebo přes .opacity?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2280" y="41056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4105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Posunou se tlačítka, když hláška naskočí?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12280" y="47274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4727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Přidal něco, co jsme nechtěli?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diff nesedí: neopravovat ručně, ale přesně dospecifikovat a vygenerovat znovu.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hra GuessCircle od agenta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Skutečný kód z pondělního cvičení. Běží, vyhrát jde. Přesto: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4864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correctIndex = Int.random(in: 0..&lt;3)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tappedIndex: Int?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hasWon = false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.fill(colors[index])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.onTapGesture { guess(index)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tappedIndex != nil &amp;&amp; !hasWon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Text("Wrong! Try again.")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Button("New Game", action: reset)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func guess(_ index: Int)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tappedIndex = index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hasWon = index == correctIndex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122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68122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Zdvojený stav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16712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hasWon je vždy rovno tappedIndex == correctIndex. Stačí computed property – jeden zdroj pravdy, nic se nerozejde.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31272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3108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Poskakující layout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349300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„Wrong!“ naskočí přes if a posune tlačítko New Game. Kruhy přitom tlumí přes .opacity – obě strategie v jednom souboru.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44531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4434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Přístupnost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48188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 onTapGesture není tlačítko. VoiceOver ho tak neohlásí a kruhy rozliší jen barva.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z toho překladač nenahlásí a app funguje. Najít to je vaše práce. Tomu se říká review.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Nález 2 na vlastní oči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Stejná app, dva stavy. Nic jsme nepřidali – jen jeden špatný tap.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21612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Před tapem</a:t>
            </a:r>
            <a:endParaRPr lang="en-US" sz="1700" dirty="0"/>
          </a:p>
        </p:txBody>
      </p:sp>
      <p:pic>
        <p:nvPicPr>
          <p:cNvPr id="5" name="Image 0" descr="/Users/filipvabrousek/AP9PT-main/2026/slides/img/02/gues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612" y="2057400"/>
            <a:ext cx="3931920" cy="37493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21612" y="2057400"/>
            <a:ext cx="3931920" cy="3749343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38164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špatném tapu</a:t>
            </a:r>
            <a:endParaRPr lang="en-US" sz="1700" dirty="0"/>
          </a:p>
        </p:txBody>
      </p:sp>
      <p:pic>
        <p:nvPicPr>
          <p:cNvPr id="8" name="Image 1" descr="/Users/filipvabrousek/AP9PT-main/2026/slides/img/02/guessW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164" y="2057400"/>
            <a:ext cx="3931920" cy="374934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38164" y="2057400"/>
            <a:ext cx="3931920" cy="3749343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„Wrong! Try again.“ se vloží přes if: celý VStack se přepočítá, nadpis vyjede nahoru a New Game sjede dolů (o ~30 bodů).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F0513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Pravidlo, které platí do konce semestru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„AI píše, vy čtete. Bez výjimky.“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nepřečte diff, dostane horší známku – i když app funguje.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LAB-NN-NOTES.md musíte umět popsat, co agent napsal a proč.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testu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je funkce stavu, body se přepočítává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body, some 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 / HStack / ZStack / Spacer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obaluje → pořadí záleží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 private var – kdy a proč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vs. .opacity(0): existuje × je neviditelné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Příště · W4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kalkulačka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předávaný mezi view: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@Binding a prefix $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TextField, Form, Section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Validace vstupu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Creating and combining views (tutoriál SwiftUI)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developer.apple.com/tutorials/swiftui/creating-and-…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939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View, ViewBuilder – dokumentace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0" y="2093976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Configuring views (modifiery)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0" y="249631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developer.apple.com/documentation/swiftui/configuring-views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State a Managing user interface state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26480" y="289864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developer.apple.com/documentation/swiftui/managing-…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009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opacity(_:) a accessibilityAddTraits(_:)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30098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developer.apple.com/documentation/swiftui/view/opacity(_:)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WWDC19: Introducing SwiftUI – Building Your First App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370332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developer.apple.com/videos/play/wwdc2019/204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0565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WWDC20: Data Essentials in SwiftUI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0" y="4105656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developer.apple.com/videos/play/wwdc2020/10040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079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WWDC21: Demystify SwiftUI (identita a životnost view)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4507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developer.apple.com/videos/play/wwdc2021/10022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910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Swift Programming Language: Opaque Types (some)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26480" y="491032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docs.swift.org/swift-book/…/opaquetypes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3126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Symbols – aplikace s ikonami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26480" y="531266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developer.apple.com/sf-symbols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Hudson: 100 Days of SwiftUI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26480" y="571500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hackingwithswift.com/100/swiftui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GuessCircle: repo kurzu, W03-State/monday-sk-2/GuessCircleGame.swift (cvičení 5. 10. 2026).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SwiftUI: od layoutu ke stavu</dc:title>
  <dc:subject>PptxGenJS Presentation</dc:subject>
  <dc:creator>Filip Vabroušek</dc:creator>
  <cp:lastModifiedBy>Filip Vabroušek</cp:lastModifiedBy>
  <cp:revision>1</cp:revision>
  <dcterms:created xsi:type="dcterms:W3CDTF">2026-10-06T07:36:48Z</dcterms:created>
  <dcterms:modified xsi:type="dcterms:W3CDTF">2026-10-06T07:36:48Z</dcterms:modified>
</cp:coreProperties>
</file>